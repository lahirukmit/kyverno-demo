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7A7C19-17A7-2556-668E-9128A0750CC5}" v="65" dt="2026-10-29T15:29:00.1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itesp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959427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4572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MillenniumIT ESP</a:t>
            </a:r>
          </a:p>
        </p:txBody>
      </p:sp>
      <p:pic>
        <p:nvPicPr>
          <p:cNvPr id="6" name="Picture 5" descr="kyvern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457200"/>
            <a:ext cx="48768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46920" y="4572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 i="0">
                <a:solidFill>
                  <a:srgbClr val="8FC4EE"/>
                </a:solidFill>
                <a:latin typeface="Montserrat"/>
              </a:rPr>
              <a:t>Kyverno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2926079" cy="329184"/>
          </a:xfrm>
          <a:prstGeom prst="roundRect">
            <a:avLst>
              <a:gd name="adj" fmla="val 50000"/>
            </a:avLst>
          </a:prstGeom>
          <a:solidFill>
            <a:srgbClr val="EF4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200" b="1" spc="120">
                <a:solidFill>
                  <a:srgbClr val="FFFFFF"/>
                </a:solidFill>
                <a:latin typeface="Montserrat"/>
              </a:rPr>
              <a:t>KNOWLEDGE SHARE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14600"/>
            <a:ext cx="96012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Montserrat"/>
              </a:rPr>
              <a:t>Kyverno on </a:t>
            </a:r>
            <a:r>
              <a:rPr sz="5200" b="1">
                <a:solidFill>
                  <a:srgbClr val="EF4023"/>
                </a:solidFill>
                <a:latin typeface="Montserrat"/>
              </a:rPr>
              <a:t>Kubernetes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2044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B9BDC2"/>
                </a:solidFill>
                <a:latin typeface="Montserrat"/>
              </a:rPr>
              <a:t>Deploy · validate · mutate — simple live demos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26280"/>
            <a:ext cx="96012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500" b="1" dirty="0">
                <a:solidFill>
                  <a:srgbClr val="B9BDC2"/>
                </a:solidFill>
                <a:latin typeface="Montserrat"/>
              </a:rPr>
              <a:t>Cloud &amp; DevOps</a:t>
            </a:r>
            <a:r>
              <a:rPr sz="1500" b="1" i="0" dirty="0">
                <a:solidFill>
                  <a:srgbClr val="B9BDC2"/>
                </a:solidFill>
                <a:latin typeface="Montserrat"/>
              </a:rPr>
              <a:t>  ·  ~40 minutes  ·  </a:t>
            </a:r>
            <a:r>
              <a:rPr sz="1500" b="1" i="0" dirty="0" err="1">
                <a:solidFill>
                  <a:srgbClr val="B9BDC2"/>
                </a:solidFill>
                <a:latin typeface="Montserrat"/>
              </a:rPr>
              <a:t>Minikube</a:t>
            </a:r>
            <a:endParaRPr lang="en-US" sz="1500" b="1" i="0" dirty="0" err="1">
              <a:solidFill>
                <a:srgbClr val="B9BDC2"/>
              </a:solidFill>
              <a:latin typeface="Montserra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9BDC2"/>
                </a:solidFill>
                <a:latin typeface="Montserrat"/>
              </a:rPr>
              <a:t>TechOps · Knowledge Share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B9BDC2"/>
                </a:solidFill>
                <a:latin typeface="Montserrat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444752" cy="329184"/>
          </a:xfrm>
          <a:prstGeom prst="roundRect">
            <a:avLst>
              <a:gd name="adj" fmla="val 50000"/>
            </a:avLst>
          </a:prstGeom>
          <a:solidFill>
            <a:srgbClr val="FD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200" b="1" spc="120">
                <a:solidFill>
                  <a:srgbClr val="EF4023"/>
                </a:solidFill>
                <a:latin typeface="Montserra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B1F"/>
                </a:solidFill>
                <a:latin typeface="Montserrat"/>
              </a:rPr>
              <a:t>What we’ll cover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11091672" cy="4206240"/>
          </a:xfrm>
          <a:prstGeom prst="roundRect">
            <a:avLst>
              <a:gd name="adj" fmla="val 5000"/>
            </a:avLst>
          </a:prstGeom>
          <a:solidFill>
            <a:srgbClr val="F6F6F8"/>
          </a:solidFill>
          <a:ln w="9525">
            <a:solidFill>
              <a:srgbClr val="E4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F4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286000"/>
            <a:ext cx="9692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A1B1F"/>
                </a:solidFill>
                <a:latin typeface="Montserrat"/>
              </a:rPr>
              <a:t>Why Kyverno?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88950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F4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889504"/>
            <a:ext cx="9692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A1B1F"/>
                </a:solidFill>
                <a:latin typeface="Montserrat"/>
              </a:rPr>
              <a:t>Install on Minikube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4930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F4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493008"/>
            <a:ext cx="9692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A1B1F"/>
                </a:solidFill>
                <a:latin typeface="Montserrat"/>
              </a:rPr>
              <a:t>Demo 1 — Require app label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0965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F4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4096512"/>
            <a:ext cx="9692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A1B1F"/>
                </a:solidFill>
                <a:latin typeface="Montserrat"/>
              </a:rPr>
              <a:t>Demo 2 — Disallow :latest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0001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F4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700016"/>
            <a:ext cx="9692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A1B1F"/>
                </a:solidFill>
                <a:latin typeface="Montserrat"/>
              </a:rPr>
              <a:t>Demo 3 — Mutate (add label)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303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F4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5303520"/>
            <a:ext cx="9692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A1B1F"/>
                </a:solidFill>
                <a:latin typeface="Montserrat"/>
              </a:rPr>
              <a:t>Ops tips + Q&amp;A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6F76"/>
                </a:solidFill>
                <a:latin typeface="Montserrat"/>
              </a:rPr>
              <a:t>MillenniumIT ESP  ·  Kyverno Knowledge Share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6B6F76"/>
                </a:solidFill>
                <a:latin typeface="Montserra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609344" cy="329184"/>
          </a:xfrm>
          <a:prstGeom prst="roundRect">
            <a:avLst>
              <a:gd name="adj" fmla="val 50000"/>
            </a:avLst>
          </a:prstGeom>
          <a:solidFill>
            <a:srgbClr val="FD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200" b="1" spc="120">
                <a:solidFill>
                  <a:srgbClr val="EF4023"/>
                </a:solidFill>
                <a:latin typeface="Montserrat"/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B1F"/>
                </a:solidFill>
                <a:latin typeface="Montserrat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1A1B1F"/>
                </a:solidFill>
                <a:latin typeface="Montserrat"/>
              </a:rPr>
              <a:t>Anyone can kubectl apply a Pod with: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8686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EF4023"/>
                </a:solidFill>
                <a:latin typeface="Montserrat"/>
              </a:rPr>
              <a:t>—  </a:t>
            </a:r>
            <a:r>
              <a:rPr sz="1700" b="0">
                <a:solidFill>
                  <a:srgbClr val="1A1B1F"/>
                </a:solidFill>
                <a:latin typeface="Montserrat"/>
              </a:rPr>
              <a:t>no labels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90088"/>
            <a:ext cx="8686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EF4023"/>
                </a:solidFill>
                <a:latin typeface="Montserrat"/>
              </a:rPr>
              <a:t>—  </a:t>
            </a:r>
            <a:r>
              <a:rPr sz="1700" b="0">
                <a:solidFill>
                  <a:srgbClr val="1A1B1F"/>
                </a:solidFill>
                <a:latin typeface="Montserrat"/>
              </a:rPr>
              <a:t>image: nginx:latest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65576"/>
            <a:ext cx="8686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EF4023"/>
                </a:solidFill>
                <a:latin typeface="Montserrat"/>
              </a:rPr>
              <a:t>—  </a:t>
            </a:r>
            <a:r>
              <a:rPr sz="1700" b="0">
                <a:solidFill>
                  <a:srgbClr val="1A1B1F"/>
                </a:solidFill>
                <a:latin typeface="Montserrat"/>
              </a:rPr>
              <a:t>no shared standards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160520"/>
            <a:ext cx="10424160" cy="1005840"/>
          </a:xfrm>
          <a:prstGeom prst="roundRect">
            <a:avLst>
              <a:gd name="adj" fmla="val 12000"/>
            </a:avLst>
          </a:prstGeom>
          <a:solidFill>
            <a:srgbClr val="FD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4297680"/>
            <a:ext cx="54864" cy="731520"/>
          </a:xfrm>
          <a:prstGeom prst="roundRect">
            <a:avLst>
              <a:gd name="adj" fmla="val 50000"/>
            </a:avLst>
          </a:prstGeom>
          <a:solidFill>
            <a:srgbClr val="EF4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4343400"/>
            <a:ext cx="97840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A1B1F"/>
                </a:solidFill>
                <a:latin typeface="Montserrat"/>
              </a:rPr>
              <a:t>On a shared cluster that becomes chaos — hard to find owners, hard to reproduce what ran.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6F76"/>
                </a:solidFill>
                <a:latin typeface="Montserrat"/>
              </a:rPr>
              <a:t>MillenniumIT ESP  ·  Kyverno Knowledge Share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6B6F76"/>
                </a:solidFill>
                <a:latin typeface="Montserra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FD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200" b="1" spc="120">
                <a:solidFill>
                  <a:srgbClr val="EF4023"/>
                </a:solidFill>
                <a:latin typeface="Montserrat"/>
              </a:rPr>
              <a:t>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B1F"/>
                </a:solidFill>
                <a:latin typeface="Montserrat"/>
              </a:rPr>
              <a:t>What is Kyverno?</a:t>
            </a:r>
          </a:p>
        </p:txBody>
      </p:sp>
      <p:pic>
        <p:nvPicPr>
          <p:cNvPr id="5" name="Picture 4" descr="kyvern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914400"/>
            <a:ext cx="877824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92024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3783C4"/>
                </a:solidFill>
                <a:latin typeface="Montserrat"/>
              </a:rPr>
              <a:t>A Kubernetes-native policy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91440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3783C4"/>
                </a:solidFill>
                <a:latin typeface="Montserrat"/>
              </a:rPr>
              <a:t>—  </a:t>
            </a:r>
            <a:r>
              <a:rPr sz="1700" b="0">
                <a:solidFill>
                  <a:srgbClr val="1A1B1F"/>
                </a:solidFill>
                <a:latin typeface="Montserrat"/>
              </a:rPr>
              <a:t>Policies written in plain YAML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90088"/>
            <a:ext cx="91440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3783C4"/>
                </a:solidFill>
                <a:latin typeface="Montserrat"/>
              </a:rPr>
              <a:t>—  </a:t>
            </a:r>
            <a:r>
              <a:rPr sz="1700" b="0">
                <a:solidFill>
                  <a:srgbClr val="1A1B1F"/>
                </a:solidFill>
                <a:latin typeface="Montserrat"/>
              </a:rPr>
              <a:t>Same mental model as Deployments &amp;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65576"/>
            <a:ext cx="91440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3783C4"/>
                </a:solidFill>
                <a:latin typeface="Montserrat"/>
              </a:rPr>
              <a:t>—  </a:t>
            </a:r>
            <a:r>
              <a:rPr sz="1700" b="0">
                <a:solidFill>
                  <a:srgbClr val="1A1B1F"/>
                </a:solidFill>
                <a:latin typeface="Montserrat"/>
              </a:rPr>
              <a:t>No new language to learn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43400"/>
            <a:ext cx="10424160" cy="822960"/>
          </a:xfrm>
          <a:prstGeom prst="roundRect">
            <a:avLst>
              <a:gd name="adj" fmla="val 14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4343400"/>
            <a:ext cx="97840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1">
                <a:solidFill>
                  <a:srgbClr val="245C8F"/>
                </a:solidFill>
                <a:latin typeface="Montserrat"/>
              </a:rPr>
              <a:t>“Guardrails for what resources are allowed to look like”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6F76"/>
                </a:solidFill>
                <a:latin typeface="Montserrat"/>
              </a:rPr>
              <a:t>MillenniumIT ESP  ·  Kyverno Knowledge Share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6B6F76"/>
                </a:solidFill>
                <a:latin typeface="Montserra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FD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200" b="1" spc="120">
                <a:solidFill>
                  <a:srgbClr val="EF4023"/>
                </a:solidFill>
                <a:latin typeface="Montserrat"/>
              </a:rPr>
              <a:t>CORE IDEAS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B1F"/>
                </a:solidFill>
                <a:latin typeface="Montserrat"/>
              </a:rPr>
              <a:t>Two verbs today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65960"/>
          <a:ext cx="8686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1" spc="100">
                          <a:solidFill>
                            <a:srgbClr val="FFFFFF"/>
                          </a:solidFill>
                          <a:latin typeface="Montserrat"/>
                        </a:rPr>
                        <a:t>VERB</a:t>
                      </a:r>
                    </a:p>
                  </a:txBody>
                  <a:tcPr marL="128016" marT="54864" anchor="ctr">
                    <a:solidFill>
                      <a:srgbClr val="3783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spc="100">
                          <a:solidFill>
                            <a:srgbClr val="FFFFFF"/>
                          </a:solidFill>
                          <a:latin typeface="Montserrat"/>
                        </a:rPr>
                        <a:t>MEANING</a:t>
                      </a:r>
                    </a:p>
                  </a:txBody>
                  <a:tcPr marL="128016" marT="54864" anchor="ctr">
                    <a:solidFill>
                      <a:srgbClr val="3783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spc="100">
                          <a:solidFill>
                            <a:srgbClr val="FFFFFF"/>
                          </a:solidFill>
                          <a:latin typeface="Montserrat"/>
                        </a:rPr>
                        <a:t>DEMO</a:t>
                      </a:r>
                    </a:p>
                  </a:txBody>
                  <a:tcPr marL="128016" marT="54864" anchor="ctr">
                    <a:solidFill>
                      <a:srgbClr val="3783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1B1F"/>
                          </a:solidFill>
                          <a:latin typeface="Montserrat"/>
                        </a:rPr>
                        <a:t>Validate</a:t>
                      </a:r>
                    </a:p>
                  </a:txBody>
                  <a:tcPr marL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B1F"/>
                          </a:solidFill>
                          <a:latin typeface="Montserrat"/>
                        </a:rPr>
                        <a:t>Allow or deny</a:t>
                      </a:r>
                    </a:p>
                  </a:txBody>
                  <a:tcPr marL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B1F"/>
                          </a:solidFill>
                          <a:latin typeface="Montserrat"/>
                        </a:rPr>
                        <a:t>1 + 2</a:t>
                      </a:r>
                    </a:p>
                  </a:txBody>
                  <a:tcPr marL="1280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1B1F"/>
                          </a:solidFill>
                          <a:latin typeface="Montserrat"/>
                        </a:rPr>
                        <a:t>Mutate</a:t>
                      </a:r>
                    </a:p>
                  </a:txBody>
                  <a:tcPr marL="128016" anchor="ctr"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B1F"/>
                          </a:solidFill>
                          <a:latin typeface="Montserrat"/>
                        </a:rPr>
                        <a:t>Change, then allow</a:t>
                      </a:r>
                    </a:p>
                  </a:txBody>
                  <a:tcPr marL="128016" anchor="ctr"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B1F"/>
                          </a:solidFill>
                          <a:latin typeface="Montserrat"/>
                        </a:rPr>
                        <a:t>3</a:t>
                      </a:r>
                    </a:p>
                  </a:txBody>
                  <a:tcPr marL="128016" anchor="ctr">
                    <a:solidFill>
                      <a:srgbClr val="F6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749039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6B6F76"/>
                </a:solidFill>
                <a:latin typeface="Montserrat"/>
              </a:rPr>
              <a:t>Also exists: Generate — out of scope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6F76"/>
                </a:solidFill>
                <a:latin typeface="Montserrat"/>
              </a:rPr>
              <a:t>MillenniumIT ESP  ·  Kyverno Knowledge Share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6B6F76"/>
                </a:solidFill>
                <a:latin typeface="Montserra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2432304" cy="329184"/>
          </a:xfrm>
          <a:prstGeom prst="roundRect">
            <a:avLst>
              <a:gd name="adj" fmla="val 50000"/>
            </a:avLst>
          </a:prstGeom>
          <a:solidFill>
            <a:srgbClr val="FD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200" b="1" spc="120">
                <a:solidFill>
                  <a:srgbClr val="EF4023"/>
                </a:solidFill>
                <a:latin typeface="Montserrat"/>
              </a:rPr>
              <a:t>MENTAL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B1F"/>
                </a:solidFill>
                <a:latin typeface="Montserrat"/>
              </a:rPr>
              <a:t>RBAC vs Kyverno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5385816" cy="2194560"/>
          </a:xfrm>
          <a:prstGeom prst="roundRect">
            <a:avLst>
              <a:gd name="adj" fmla="val 9000"/>
            </a:avLst>
          </a:prstGeom>
          <a:solidFill>
            <a:srgbClr val="F6F6F8"/>
          </a:solidFill>
          <a:ln w="9525">
            <a:solidFill>
              <a:srgbClr val="E4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385816" cy="82296"/>
          </a:xfrm>
          <a:prstGeom prst="roundRect">
            <a:avLst>
              <a:gd name="adj" fmla="val 90000"/>
            </a:avLst>
          </a:prstGeom>
          <a:solidFill>
            <a:srgbClr val="EF4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2395728"/>
            <a:ext cx="49286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F4023"/>
                </a:solidFill>
                <a:latin typeface="Montserrat"/>
              </a:rPr>
              <a:t>RBAC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816352"/>
            <a:ext cx="4928616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B1F"/>
                </a:solidFill>
                <a:latin typeface="Montserrat"/>
              </a:rPr>
              <a:t>Who can create a Pod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2103120"/>
            <a:ext cx="5385816" cy="2194560"/>
          </a:xfrm>
          <a:prstGeom prst="roundRect">
            <a:avLst>
              <a:gd name="adj" fmla="val 9000"/>
            </a:avLst>
          </a:prstGeom>
          <a:solidFill>
            <a:srgbClr val="F6F6F8"/>
          </a:solidFill>
          <a:ln w="9525">
            <a:solidFill>
              <a:srgbClr val="E4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54496" y="2103120"/>
            <a:ext cx="5385816" cy="82296"/>
          </a:xfrm>
          <a:prstGeom prst="roundRect">
            <a:avLst>
              <a:gd name="adj" fmla="val 90000"/>
            </a:avLst>
          </a:prstGeom>
          <a:solidFill>
            <a:srgbClr val="37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0528" y="2395728"/>
            <a:ext cx="49286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783C4"/>
                </a:solidFill>
                <a:latin typeface="Montserrat"/>
              </a:rPr>
              <a:t>KYVERNO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816352"/>
            <a:ext cx="4928616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B1F"/>
                </a:solidFill>
                <a:latin typeface="Montserrat"/>
              </a:rPr>
              <a:t>What that Pod is allowed to look like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6177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A1B1F"/>
                </a:solidFill>
                <a:latin typeface="Montserrat"/>
              </a:rPr>
              <a:t>You need both.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6F76"/>
                </a:solidFill>
                <a:latin typeface="Montserrat"/>
              </a:rPr>
              <a:t>MillenniumIT ESP  ·  Kyverno Knowledge Share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6B6F76"/>
                </a:solidFill>
                <a:latin typeface="Montserra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 rot="1080000">
            <a:off x="10911535" y="-457200"/>
            <a:ext cx="1737360" cy="1737360"/>
          </a:xfrm>
          <a:prstGeom prst="roundRect">
            <a:avLst>
              <a:gd name="adj" fmla="val 22000"/>
            </a:avLst>
          </a:prstGeom>
          <a:solidFill>
            <a:srgbClr val="EF4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2377440"/>
            <a:ext cx="1938528" cy="329184"/>
          </a:xfrm>
          <a:prstGeom prst="roundRect">
            <a:avLst>
              <a:gd name="adj" fmla="val 50000"/>
            </a:avLst>
          </a:prstGeom>
          <a:solidFill>
            <a:srgbClr val="EF4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300" b="1" spc="120">
                <a:solidFill>
                  <a:srgbClr val="FFFFFF"/>
                </a:solidFill>
                <a:latin typeface="Montserrat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8036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Montserrat"/>
              </a:rPr>
              <a:t>Install Kyverno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94760"/>
            <a:ext cx="10058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1" err="1">
                <a:solidFill>
                  <a:srgbClr val="B9BDC2"/>
                </a:solidFill>
                <a:latin typeface="Montserrat"/>
              </a:rPr>
              <a:t>Minikube</a:t>
            </a:r>
            <a:r>
              <a:rPr sz="2000" b="1" dirty="0">
                <a:solidFill>
                  <a:srgbClr val="B9BDC2"/>
                </a:solidFill>
                <a:latin typeface="Montserrat"/>
              </a:rPr>
              <a:t> + Helm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9BDC2"/>
                </a:solidFill>
                <a:latin typeface="Montserrat"/>
              </a:rPr>
              <a:t>MillenniumIT ESP  ·  Kyverno Knowledge Share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B9BDC2"/>
                </a:solidFill>
                <a:latin typeface="Montserrat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609344" cy="329184"/>
          </a:xfrm>
          <a:prstGeom prst="roundRect">
            <a:avLst>
              <a:gd name="adj" fmla="val 50000"/>
            </a:avLst>
          </a:prstGeom>
          <a:solidFill>
            <a:srgbClr val="FD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200" b="1" spc="120">
                <a:solidFill>
                  <a:srgbClr val="EF4023"/>
                </a:solidFill>
                <a:latin typeface="Montserrat"/>
              </a:rPr>
              <a:t>INSTALL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B1F"/>
                </a:solidFill>
                <a:latin typeface="Montserrat"/>
              </a:rPr>
              <a:t>What we’ll run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8778240" cy="2103120"/>
          </a:xfrm>
          <a:prstGeom prst="roundRect">
            <a:avLst>
              <a:gd name="adj" fmla="val 10000"/>
            </a:avLst>
          </a:prstGeom>
          <a:solidFill>
            <a:srgbClr val="14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10896" tIns="164592" rIns="182880" bIns="164592" rtlCol="0" anchor="ctr"/>
          <a:lstStyle/>
          <a:p>
            <a:pPr algn="l">
              <a:lnSpc>
                <a:spcPct val="125000"/>
              </a:lnSpc>
            </a:pPr>
            <a:r>
              <a:rPr sz="1400">
                <a:solidFill>
                  <a:srgbClr val="E5EAF2"/>
                </a:solidFill>
                <a:latin typeface="Consolas"/>
              </a:rPr>
              <a:t>helm repo add kyverno https://kyverno.github.io/kyverno/</a:t>
            </a:r>
          </a:p>
          <a:p>
            <a:pPr algn="l">
              <a:lnSpc>
                <a:spcPct val="125000"/>
              </a:lnSpc>
            </a:pPr>
            <a:r>
              <a:rPr sz="1400">
                <a:solidFill>
                  <a:srgbClr val="E5EAF2"/>
                </a:solidFill>
                <a:latin typeface="Consolas"/>
              </a:rPr>
              <a:t>helm repo update</a:t>
            </a:r>
          </a:p>
          <a:p>
            <a:pPr algn="l">
              <a:lnSpc>
                <a:spcPct val="125000"/>
              </a:lnSpc>
            </a:pPr>
            <a:endParaRPr sz="1400">
              <a:solidFill>
                <a:srgbClr val="E5EAF2"/>
              </a:solidFill>
              <a:latin typeface="Consolas"/>
            </a:endParaRPr>
          </a:p>
          <a:p>
            <a:pPr algn="l">
              <a:lnSpc>
                <a:spcPct val="125000"/>
              </a:lnSpc>
            </a:pPr>
            <a:r>
              <a:rPr sz="1400">
                <a:solidFill>
                  <a:srgbClr val="E5EAF2"/>
                </a:solidFill>
                <a:latin typeface="Consolas"/>
              </a:rPr>
              <a:t>helm install kyverno kyverno/kyverno \</a:t>
            </a:r>
          </a:p>
          <a:p>
            <a:pPr algn="l">
              <a:lnSpc>
                <a:spcPct val="125000"/>
              </a:lnSpc>
            </a:pPr>
            <a:r>
              <a:rPr sz="1400">
                <a:solidFill>
                  <a:srgbClr val="E5EAF2"/>
                </a:solidFill>
                <a:latin typeface="Consolas"/>
              </a:rPr>
              <a:t>  -n kyverno --create-namespace --version 3.9.1 \</a:t>
            </a:r>
          </a:p>
          <a:p>
            <a:pPr algn="l">
              <a:lnSpc>
                <a:spcPct val="125000"/>
              </a:lnSpc>
            </a:pPr>
            <a:r>
              <a:rPr sz="1400">
                <a:solidFill>
                  <a:srgbClr val="E5EAF2"/>
                </a:solidFill>
                <a:latin typeface="Consolas"/>
              </a:rPr>
              <a:t>  --set admissionController.replicas=1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084832"/>
            <a:ext cx="54864" cy="1773936"/>
          </a:xfrm>
          <a:prstGeom prst="roundRect">
            <a:avLst>
              <a:gd name="adj" fmla="val 50000"/>
            </a:avLst>
          </a:prstGeom>
          <a:solidFill>
            <a:srgbClr val="37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425196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A1B1F"/>
                </a:solidFill>
                <a:latin typeface="Montserrat"/>
              </a:rPr>
              <a:t>Then check pods + webhooks.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66344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6B6F76"/>
                </a:solidFill>
                <a:latin typeface="Montserrat"/>
              </a:rPr>
              <a:t>replicas=1 = laptop-friendly · prod uses more.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6F76"/>
                </a:solidFill>
                <a:latin typeface="Montserrat"/>
              </a:rPr>
              <a:t>MillenniumIT ESP  ·  Kyverno Knowledge Share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6B6F76"/>
                </a:solidFill>
                <a:latin typeface="Montserrat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2432304" cy="329184"/>
          </a:xfrm>
          <a:prstGeom prst="roundRect">
            <a:avLst>
              <a:gd name="adj" fmla="val 50000"/>
            </a:avLst>
          </a:prstGeom>
          <a:solidFill>
            <a:srgbClr val="FD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200" b="1" spc="120">
                <a:solidFill>
                  <a:srgbClr val="EF4023"/>
                </a:solidFill>
                <a:latin typeface="Montserrat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B1F"/>
                </a:solidFill>
                <a:latin typeface="Montserrat"/>
              </a:rPr>
              <a:t>How it 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7680960" cy="2743200"/>
          </a:xfrm>
          <a:prstGeom prst="roundRect">
            <a:avLst>
              <a:gd name="adj" fmla="val 10000"/>
            </a:avLst>
          </a:prstGeom>
          <a:solidFill>
            <a:srgbClr val="14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10896" tIns="164592" rIns="182880" bIns="164592" rtlCol="0" anchor="ctr"/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E5EAF2"/>
                </a:solidFill>
                <a:latin typeface="Consolas"/>
              </a:rPr>
              <a:t>kubectl apply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E5EAF2"/>
                </a:solidFill>
                <a:latin typeface="Consolas"/>
              </a:rPr>
              <a:t>      ↓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E5EAF2"/>
                </a:solidFill>
                <a:latin typeface="Consolas"/>
              </a:rPr>
              <a:t>API server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E5EAF2"/>
                </a:solidFill>
                <a:latin typeface="Consolas"/>
              </a:rPr>
              <a:t>      ↓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E5EAF2"/>
                </a:solidFill>
                <a:latin typeface="Consolas"/>
              </a:rPr>
              <a:t>Kyverno webhook   ←  validate / mutate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E5EAF2"/>
                </a:solidFill>
                <a:latin typeface="Consolas"/>
              </a:rPr>
              <a:t>      ↓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E5EAF2"/>
                </a:solidFill>
                <a:latin typeface="Consolas"/>
              </a:rPr>
              <a:t>etcd (saved)   or   DENY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084832"/>
            <a:ext cx="54864" cy="2414016"/>
          </a:xfrm>
          <a:prstGeom prst="roundRect">
            <a:avLst>
              <a:gd name="adj" fmla="val 50000"/>
            </a:avLst>
          </a:prstGeom>
          <a:solidFill>
            <a:srgbClr val="37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48920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1">
                <a:solidFill>
                  <a:srgbClr val="6B6F76"/>
                </a:solidFill>
                <a:latin typeface="Montserrat"/>
              </a:rPr>
              <a:t>Always confirm Kyverno pods are Ready before testing policies.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6F76"/>
                </a:solidFill>
                <a:latin typeface="Montserrat"/>
              </a:rPr>
              <a:t>MillenniumIT ESP  ·  Kyverno Knowledge Share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6B6F76"/>
                </a:solidFill>
                <a:latin typeface="Montserrat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 rot="1080000">
            <a:off x="10911535" y="-457200"/>
            <a:ext cx="1737360" cy="1737360"/>
          </a:xfrm>
          <a:prstGeom prst="roundRect">
            <a:avLst>
              <a:gd name="adj" fmla="val 22000"/>
            </a:avLst>
          </a:prstGeom>
          <a:solidFill>
            <a:srgbClr val="EF4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2377440"/>
            <a:ext cx="1938528" cy="329184"/>
          </a:xfrm>
          <a:prstGeom prst="roundRect">
            <a:avLst>
              <a:gd name="adj" fmla="val 50000"/>
            </a:avLst>
          </a:prstGeom>
          <a:solidFill>
            <a:srgbClr val="EF4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300" b="1" spc="120">
                <a:solidFill>
                  <a:srgbClr val="FFFFFF"/>
                </a:solidFill>
                <a:latin typeface="Montserrat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8036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Montserrat"/>
              </a:rPr>
              <a:t>Demo 1 — Validate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947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BDC2"/>
                </a:solidFill>
                <a:latin typeface="Montserrat"/>
              </a:rPr>
              <a:t>Require app label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9BDC2"/>
                </a:solidFill>
                <a:latin typeface="Montserrat"/>
              </a:rPr>
              <a:t>MillenniumIT ESP  ·  Kyverno Knowledge Share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B9BDC2"/>
                </a:solidFill>
                <a:latin typeface="Montserrat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4572000" cy="329184"/>
          </a:xfrm>
          <a:prstGeom prst="roundRect">
            <a:avLst>
              <a:gd name="adj" fmla="val 50000"/>
            </a:avLst>
          </a:prstGeom>
          <a:solidFill>
            <a:srgbClr val="FD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200" b="1" spc="120">
                <a:solidFill>
                  <a:srgbClr val="EF4023"/>
                </a:solidFill>
                <a:latin typeface="Montserrat"/>
              </a:rPr>
              <a:t>DEMO 1 · POLICY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B1F"/>
                </a:solidFill>
                <a:latin typeface="Montserrat"/>
              </a:rPr>
              <a:t>Require app label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B6F76"/>
                </a:solidFill>
                <a:latin typeface="Consolas"/>
              </a:rPr>
              <a:t>policies/01-require-labels.yaml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6309360" cy="3730752"/>
          </a:xfrm>
          <a:prstGeom prst="roundRect">
            <a:avLst>
              <a:gd name="adj" fmla="val 5000"/>
            </a:avLst>
          </a:prstGeom>
          <a:solidFill>
            <a:srgbClr val="14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2148840"/>
            <a:ext cx="55321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7CDD6"/>
                </a:solidFill>
                <a:latin typeface="Consolas"/>
              </a:rPr>
              <a:t>kind: ClusterPolicy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395728"/>
            <a:ext cx="55321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7CDD6"/>
                </a:solidFill>
                <a:latin typeface="Consolas"/>
              </a:rPr>
              <a:t>spec: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670048"/>
            <a:ext cx="45720" cy="192024"/>
          </a:xfrm>
          <a:prstGeom prst="roundRect">
            <a:avLst>
              <a:gd name="adj" fmla="val 50000"/>
            </a:avLst>
          </a:prstGeom>
          <a:solidFill>
            <a:srgbClr val="EF4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2642616"/>
            <a:ext cx="55321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F4023"/>
                </a:solidFill>
                <a:latin typeface="Consolas"/>
              </a:rPr>
              <a:t>  validationFailureAction: Enforce</a:t>
            </a:r>
          </a:p>
        </p:txBody>
      </p:sp>
      <p:sp>
        <p:nvSpPr>
          <p:cNvPr id="11" name="Oval 10"/>
          <p:cNvSpPr/>
          <p:nvPr/>
        </p:nvSpPr>
        <p:spPr>
          <a:xfrm>
            <a:off x="6455664" y="2628900"/>
            <a:ext cx="274320" cy="274320"/>
          </a:xfrm>
          <a:prstGeom prst="ellipse">
            <a:avLst/>
          </a:prstGeom>
          <a:solidFill>
            <a:srgbClr val="EF4023"/>
          </a:solidFill>
          <a:ln w="19050">
            <a:solidFill>
              <a:srgbClr val="1417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889504"/>
            <a:ext cx="55321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7CDD6"/>
                </a:solidFill>
                <a:latin typeface="Consolas"/>
              </a:rPr>
              <a:t>  rules: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136392"/>
            <a:ext cx="55321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7CDD6"/>
                </a:solidFill>
                <a:latin typeface="Consolas"/>
              </a:rPr>
              <a:t>    - name: check-app-label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" y="3410712"/>
            <a:ext cx="45720" cy="192024"/>
          </a:xfrm>
          <a:prstGeom prst="roundRect">
            <a:avLst>
              <a:gd name="adj" fmla="val 50000"/>
            </a:avLst>
          </a:prstGeom>
          <a:solidFill>
            <a:srgbClr val="37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" y="3383280"/>
            <a:ext cx="55321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3783C4"/>
                </a:solidFill>
                <a:latin typeface="Consolas"/>
              </a:rPr>
              <a:t>      match:</a:t>
            </a:r>
          </a:p>
        </p:txBody>
      </p:sp>
      <p:sp>
        <p:nvSpPr>
          <p:cNvPr id="16" name="Oval 15"/>
          <p:cNvSpPr/>
          <p:nvPr/>
        </p:nvSpPr>
        <p:spPr>
          <a:xfrm>
            <a:off x="6455664" y="3369564"/>
            <a:ext cx="274320" cy="274320"/>
          </a:xfrm>
          <a:prstGeom prst="ellipse">
            <a:avLst/>
          </a:prstGeom>
          <a:solidFill>
            <a:srgbClr val="3783C4"/>
          </a:solidFill>
          <a:ln w="19050">
            <a:solidFill>
              <a:srgbClr val="1417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630168"/>
            <a:ext cx="55321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7CDD6"/>
                </a:solidFill>
                <a:latin typeface="Consolas"/>
              </a:rPr>
              <a:t>        any: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3877056"/>
            <a:ext cx="55321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7CDD6"/>
                </a:solidFill>
                <a:latin typeface="Consolas"/>
              </a:rPr>
              <a:t>          - resources: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123944"/>
            <a:ext cx="55321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7CDD6"/>
                </a:solidFill>
                <a:latin typeface="Consolas"/>
              </a:rPr>
              <a:t>              kinds: [Pod]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4370832"/>
            <a:ext cx="55321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7CDD6"/>
                </a:solidFill>
                <a:latin typeface="Consolas"/>
              </a:rPr>
              <a:t>      validate: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6" y="4645152"/>
            <a:ext cx="45720" cy="192024"/>
          </a:xfrm>
          <a:prstGeom prst="roundRect">
            <a:avLst>
              <a:gd name="adj" fmla="val 50000"/>
            </a:avLst>
          </a:prstGeom>
          <a:solidFill>
            <a:srgbClr val="E77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" y="4617720"/>
            <a:ext cx="55321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77E5B"/>
                </a:solidFill>
                <a:latin typeface="Consolas"/>
              </a:rPr>
              <a:t>        pattern:</a:t>
            </a:r>
          </a:p>
        </p:txBody>
      </p:sp>
      <p:sp>
        <p:nvSpPr>
          <p:cNvPr id="23" name="Oval 22"/>
          <p:cNvSpPr/>
          <p:nvPr/>
        </p:nvSpPr>
        <p:spPr>
          <a:xfrm>
            <a:off x="6455664" y="4604004"/>
            <a:ext cx="274320" cy="274320"/>
          </a:xfrm>
          <a:prstGeom prst="ellipse">
            <a:avLst/>
          </a:prstGeom>
          <a:solidFill>
            <a:srgbClr val="E77E5B"/>
          </a:solidFill>
          <a:ln w="19050">
            <a:solidFill>
              <a:srgbClr val="1417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4864608"/>
            <a:ext cx="55321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7CDD6"/>
                </a:solidFill>
                <a:latin typeface="Consolas"/>
              </a:rPr>
              <a:t>          metadata: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5111496"/>
            <a:ext cx="55321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7CDD6"/>
                </a:solidFill>
                <a:latin typeface="Consolas"/>
              </a:rPr>
              <a:t>            labels: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5358384"/>
            <a:ext cx="55321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7CDD6"/>
                </a:solidFill>
                <a:latin typeface="Consolas"/>
              </a:rPr>
              <a:t>              app: "?*"</a:t>
            </a:r>
          </a:p>
        </p:txBody>
      </p:sp>
      <p:sp>
        <p:nvSpPr>
          <p:cNvPr id="27" name="Oval 26"/>
          <p:cNvSpPr/>
          <p:nvPr/>
        </p:nvSpPr>
        <p:spPr>
          <a:xfrm>
            <a:off x="7178040" y="2011680"/>
            <a:ext cx="384048" cy="384048"/>
          </a:xfrm>
          <a:prstGeom prst="ellipse">
            <a:avLst/>
          </a:prstGeom>
          <a:solidFill>
            <a:srgbClr val="37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63256" y="1993392"/>
            <a:ext cx="389534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783C4"/>
                </a:solidFill>
                <a:latin typeface="Montserrat"/>
              </a:rPr>
              <a:t>MATCH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63256" y="2304288"/>
            <a:ext cx="389534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B1F"/>
                </a:solidFill>
                <a:latin typeface="Montserrat"/>
              </a:rPr>
              <a:t>Applies this rule to every Pod.</a:t>
            </a:r>
          </a:p>
        </p:txBody>
      </p:sp>
      <p:sp>
        <p:nvSpPr>
          <p:cNvPr id="30" name="Oval 29"/>
          <p:cNvSpPr/>
          <p:nvPr/>
        </p:nvSpPr>
        <p:spPr>
          <a:xfrm>
            <a:off x="7178040" y="3017520"/>
            <a:ext cx="384048" cy="384048"/>
          </a:xfrm>
          <a:prstGeom prst="ellipse">
            <a:avLst/>
          </a:prstGeom>
          <a:solidFill>
            <a:srgbClr val="E77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63256" y="2999232"/>
            <a:ext cx="389534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77E5B"/>
                </a:solidFill>
                <a:latin typeface="Montserrat"/>
              </a:rPr>
              <a:t>PATTERN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63256" y="3310128"/>
            <a:ext cx="389534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B1F"/>
                </a:solidFill>
                <a:latin typeface="Montserrat"/>
              </a:rPr>
              <a:t>The Pod must look like this. "?*" = the app label must exist and not be empty.</a:t>
            </a:r>
          </a:p>
        </p:txBody>
      </p:sp>
      <p:sp>
        <p:nvSpPr>
          <p:cNvPr id="33" name="Oval 32"/>
          <p:cNvSpPr/>
          <p:nvPr/>
        </p:nvSpPr>
        <p:spPr>
          <a:xfrm>
            <a:off x="7178040" y="4023360"/>
            <a:ext cx="384048" cy="384048"/>
          </a:xfrm>
          <a:prstGeom prst="ellipse">
            <a:avLst/>
          </a:prstGeom>
          <a:solidFill>
            <a:srgbClr val="EF4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63256" y="4005072"/>
            <a:ext cx="389534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F4023"/>
                </a:solidFill>
                <a:latin typeface="Montserrat"/>
              </a:rPr>
              <a:t>VALIDATIONFAILUREACTION: ENFORCE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63256" y="4315968"/>
            <a:ext cx="389534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B1F"/>
                </a:solidFill>
                <a:latin typeface="Montserrat"/>
              </a:rPr>
              <a:t>Enforce blocks the request. Audit would only report it.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6F76"/>
                </a:solidFill>
                <a:latin typeface="Montserrat"/>
              </a:rPr>
              <a:t>MillenniumIT ESP  ·  Kyverno Knowledge Share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6B6F76"/>
                </a:solidFill>
                <a:latin typeface="Montserrat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444752" cy="329184"/>
          </a:xfrm>
          <a:prstGeom prst="roundRect">
            <a:avLst>
              <a:gd name="adj" fmla="val 50000"/>
            </a:avLst>
          </a:prstGeom>
          <a:solidFill>
            <a:srgbClr val="FD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200" b="1" spc="120">
                <a:solidFill>
                  <a:srgbClr val="EF4023"/>
                </a:solidFill>
                <a:latin typeface="Montserrat"/>
              </a:rPr>
              <a:t>DEMO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B1F"/>
                </a:solidFill>
                <a:latin typeface="Montserrat"/>
              </a:rPr>
              <a:t>Require app label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6B6F76"/>
                </a:solidFill>
                <a:latin typeface="Montserrat"/>
              </a:rPr>
              <a:t>Story: every workload needs a simple owner key.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91440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EF4023"/>
                </a:solidFill>
                <a:latin typeface="Montserrat"/>
              </a:rPr>
              <a:t>—  </a:t>
            </a:r>
            <a:r>
              <a:rPr sz="1700" b="0">
                <a:solidFill>
                  <a:srgbClr val="1A1B1F"/>
                </a:solidFill>
                <a:latin typeface="Montserrat"/>
              </a:rPr>
              <a:t>match Pods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90088"/>
            <a:ext cx="91440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EF4023"/>
                </a:solidFill>
                <a:latin typeface="Montserrat"/>
              </a:rPr>
              <a:t>—  </a:t>
            </a:r>
            <a:r>
              <a:rPr sz="1700" b="0">
                <a:solidFill>
                  <a:srgbClr val="1A1B1F"/>
                </a:solidFill>
                <a:latin typeface="Montserrat"/>
              </a:rPr>
              <a:t>app label must exist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65576"/>
            <a:ext cx="91440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EF4023"/>
                </a:solidFill>
                <a:latin typeface="Montserrat"/>
              </a:rPr>
              <a:t>—  </a:t>
            </a:r>
            <a:r>
              <a:rPr sz="1700" b="0">
                <a:solidFill>
                  <a:srgbClr val="1A1B1F"/>
                </a:solidFill>
                <a:latin typeface="Montserrat"/>
              </a:rPr>
              <a:t>Enforce = actually block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605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6B6F76"/>
                </a:solidFill>
                <a:latin typeface="Montserrat"/>
              </a:rPr>
              <a:t>Expect:   </a:t>
            </a:r>
            <a:r>
              <a:rPr sz="1700" b="1">
                <a:solidFill>
                  <a:srgbClr val="D64545"/>
                </a:solidFill>
                <a:latin typeface="Montserrat"/>
              </a:rPr>
              <a:t>missing label → DENY</a:t>
            </a:r>
            <a:r>
              <a:rPr sz="1700" b="0">
                <a:solidFill>
                  <a:srgbClr val="6B6F76"/>
                </a:solidFill>
                <a:latin typeface="Montserrat"/>
              </a:rPr>
              <a:t>    ·    </a:t>
            </a:r>
            <a:r>
              <a:rPr sz="1700" b="1">
                <a:solidFill>
                  <a:srgbClr val="1F8A5B"/>
                </a:solidFill>
                <a:latin typeface="Montserrat"/>
              </a:rPr>
              <a:t>with app → ALLOW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6F76"/>
                </a:solidFill>
                <a:latin typeface="Montserrat"/>
              </a:rPr>
              <a:t>MillenniumIT ESP  ·  Kyverno Knowledge Share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6B6F76"/>
                </a:solidFill>
                <a:latin typeface="Montserrat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2761488" cy="329184"/>
          </a:xfrm>
          <a:prstGeom prst="roundRect">
            <a:avLst>
              <a:gd name="adj" fmla="val 50000"/>
            </a:avLst>
          </a:prstGeom>
          <a:solidFill>
            <a:srgbClr val="FD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200" b="1" spc="120">
                <a:solidFill>
                  <a:srgbClr val="EF4023"/>
                </a:solidFill>
                <a:latin typeface="Montserrat"/>
              </a:rPr>
              <a:t>PRODUCTION TIP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B1F"/>
                </a:solidFill>
                <a:latin typeface="Montserrat"/>
              </a:rPr>
              <a:t>Audit vs Enforce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65960"/>
          <a:ext cx="7772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1" spc="100">
                          <a:solidFill>
                            <a:srgbClr val="FFFFFF"/>
                          </a:solidFill>
                          <a:latin typeface="Montserrat"/>
                        </a:rPr>
                        <a:t>VALIDATIONFAILUREACTION</a:t>
                      </a:r>
                    </a:p>
                  </a:txBody>
                  <a:tcPr marL="128016" marT="54864" anchor="ctr">
                    <a:solidFill>
                      <a:srgbClr val="EF40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spc="100">
                          <a:solidFill>
                            <a:srgbClr val="FFFFFF"/>
                          </a:solidFill>
                          <a:latin typeface="Montserrat"/>
                        </a:rPr>
                        <a:t>BEHAVIOR</a:t>
                      </a:r>
                    </a:p>
                  </a:txBody>
                  <a:tcPr marL="128016" marT="54864" anchor="ctr">
                    <a:solidFill>
                      <a:srgbClr val="EF40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1B1F"/>
                          </a:solidFill>
                          <a:latin typeface="Montserrat"/>
                        </a:rPr>
                        <a:t>Audit</a:t>
                      </a:r>
                    </a:p>
                  </a:txBody>
                  <a:tcPr marL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B1F"/>
                          </a:solidFill>
                          <a:latin typeface="Montserrat"/>
                        </a:rPr>
                        <a:t>Report violations, allow create</a:t>
                      </a:r>
                    </a:p>
                  </a:txBody>
                  <a:tcPr marL="1280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1B1F"/>
                          </a:solidFill>
                          <a:latin typeface="Montserrat"/>
                        </a:rPr>
                        <a:t>Enforce</a:t>
                      </a:r>
                    </a:p>
                  </a:txBody>
                  <a:tcPr marL="128016" anchor="ctr"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B1F"/>
                          </a:solidFill>
                          <a:latin typeface="Montserrat"/>
                        </a:rPr>
                        <a:t>Block the request</a:t>
                      </a:r>
                    </a:p>
                  </a:txBody>
                  <a:tcPr marL="128016" anchor="ctr">
                    <a:solidFill>
                      <a:srgbClr val="F6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749039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A1B1F"/>
                </a:solidFill>
                <a:latin typeface="Montserrat"/>
              </a:rPr>
              <a:t>Real clusters: start Audit → fix → then Enforce.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605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6B6F76"/>
                </a:solidFill>
                <a:latin typeface="Montserrat"/>
              </a:rPr>
              <a:t>Today we use Enforce so the block is obvious.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6F76"/>
                </a:solidFill>
                <a:latin typeface="Montserrat"/>
              </a:rPr>
              <a:t>MillenniumIT ESP  ·  Kyverno Knowledge Share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6B6F76"/>
                </a:solidFill>
                <a:latin typeface="Montserrat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 rot="1080000">
            <a:off x="10911535" y="-457200"/>
            <a:ext cx="1737360" cy="1737360"/>
          </a:xfrm>
          <a:prstGeom prst="roundRect">
            <a:avLst>
              <a:gd name="adj" fmla="val 22000"/>
            </a:avLst>
          </a:prstGeom>
          <a:solidFill>
            <a:srgbClr val="EF4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2377440"/>
            <a:ext cx="1938528" cy="329184"/>
          </a:xfrm>
          <a:prstGeom prst="roundRect">
            <a:avLst>
              <a:gd name="adj" fmla="val 50000"/>
            </a:avLst>
          </a:prstGeom>
          <a:solidFill>
            <a:srgbClr val="EF4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300" b="1" spc="120">
                <a:solidFill>
                  <a:srgbClr val="FFFFFF"/>
                </a:solidFill>
                <a:latin typeface="Montserrat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8036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Montserrat"/>
              </a:rPr>
              <a:t>Demo 2 — Validate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947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BDC2"/>
                </a:solidFill>
                <a:latin typeface="Montserrat"/>
              </a:rPr>
              <a:t>Disallow :latest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9BDC2"/>
                </a:solidFill>
                <a:latin typeface="Montserrat"/>
              </a:rPr>
              <a:t>MillenniumIT ESP  ·  Kyverno Knowledge Share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B9BDC2"/>
                </a:solidFill>
                <a:latin typeface="Montserrat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4572000" cy="329184"/>
          </a:xfrm>
          <a:prstGeom prst="roundRect">
            <a:avLst>
              <a:gd name="adj" fmla="val 50000"/>
            </a:avLst>
          </a:prstGeom>
          <a:solidFill>
            <a:srgbClr val="FD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200" b="1" spc="120">
                <a:solidFill>
                  <a:srgbClr val="EF4023"/>
                </a:solidFill>
                <a:latin typeface="Montserrat"/>
              </a:rPr>
              <a:t>DEMO 2 · POLICY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B1F"/>
                </a:solidFill>
                <a:latin typeface="Montserrat"/>
              </a:rPr>
              <a:t>Disallow :latest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B6F76"/>
                </a:solidFill>
                <a:latin typeface="Consolas"/>
              </a:rPr>
              <a:t>policies/02-disallow-latest.yaml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6309360" cy="3730752"/>
          </a:xfrm>
          <a:prstGeom prst="roundRect">
            <a:avLst>
              <a:gd name="adj" fmla="val 5000"/>
            </a:avLst>
          </a:prstGeom>
          <a:solidFill>
            <a:srgbClr val="14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2148840"/>
            <a:ext cx="55321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7CDD6"/>
                </a:solidFill>
                <a:latin typeface="Consolas"/>
              </a:rPr>
              <a:t>kind: ClusterPolicy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395728"/>
            <a:ext cx="55321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7CDD6"/>
                </a:solidFill>
                <a:latin typeface="Consolas"/>
              </a:rPr>
              <a:t>spec: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670048"/>
            <a:ext cx="45720" cy="192024"/>
          </a:xfrm>
          <a:prstGeom prst="roundRect">
            <a:avLst>
              <a:gd name="adj" fmla="val 50000"/>
            </a:avLst>
          </a:prstGeom>
          <a:solidFill>
            <a:srgbClr val="EF4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2642616"/>
            <a:ext cx="55321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F4023"/>
                </a:solidFill>
                <a:latin typeface="Consolas"/>
              </a:rPr>
              <a:t>  validationFailureAction: Enforce</a:t>
            </a:r>
          </a:p>
        </p:txBody>
      </p:sp>
      <p:sp>
        <p:nvSpPr>
          <p:cNvPr id="11" name="Oval 10"/>
          <p:cNvSpPr/>
          <p:nvPr/>
        </p:nvSpPr>
        <p:spPr>
          <a:xfrm>
            <a:off x="6455664" y="2628900"/>
            <a:ext cx="274320" cy="274320"/>
          </a:xfrm>
          <a:prstGeom prst="ellipse">
            <a:avLst/>
          </a:prstGeom>
          <a:solidFill>
            <a:srgbClr val="EF4023"/>
          </a:solidFill>
          <a:ln w="19050">
            <a:solidFill>
              <a:srgbClr val="1417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889504"/>
            <a:ext cx="55321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7CDD6"/>
                </a:solidFill>
                <a:latin typeface="Consolas"/>
              </a:rPr>
              <a:t>  rules: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136392"/>
            <a:ext cx="55321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7CDD6"/>
                </a:solidFill>
                <a:latin typeface="Consolas"/>
              </a:rPr>
              <a:t>    - name: require-image-tag-not-latest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" y="3410712"/>
            <a:ext cx="45720" cy="192024"/>
          </a:xfrm>
          <a:prstGeom prst="roundRect">
            <a:avLst>
              <a:gd name="adj" fmla="val 50000"/>
            </a:avLst>
          </a:prstGeom>
          <a:solidFill>
            <a:srgbClr val="37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" y="3383280"/>
            <a:ext cx="55321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3783C4"/>
                </a:solidFill>
                <a:latin typeface="Consolas"/>
              </a:rPr>
              <a:t>      match:</a:t>
            </a:r>
          </a:p>
        </p:txBody>
      </p:sp>
      <p:sp>
        <p:nvSpPr>
          <p:cNvPr id="16" name="Oval 15"/>
          <p:cNvSpPr/>
          <p:nvPr/>
        </p:nvSpPr>
        <p:spPr>
          <a:xfrm>
            <a:off x="6455664" y="3369564"/>
            <a:ext cx="274320" cy="274320"/>
          </a:xfrm>
          <a:prstGeom prst="ellipse">
            <a:avLst/>
          </a:prstGeom>
          <a:solidFill>
            <a:srgbClr val="3783C4"/>
          </a:solidFill>
          <a:ln w="19050">
            <a:solidFill>
              <a:srgbClr val="1417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630168"/>
            <a:ext cx="55321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7CDD6"/>
                </a:solidFill>
                <a:latin typeface="Consolas"/>
              </a:rPr>
              <a:t>        any: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3877056"/>
            <a:ext cx="55321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7CDD6"/>
                </a:solidFill>
                <a:latin typeface="Consolas"/>
              </a:rPr>
              <a:t>          - resources: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123944"/>
            <a:ext cx="55321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7CDD6"/>
                </a:solidFill>
                <a:latin typeface="Consolas"/>
              </a:rPr>
              <a:t>              kinds: [Pod]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4370832"/>
            <a:ext cx="55321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7CDD6"/>
                </a:solidFill>
                <a:latin typeface="Consolas"/>
              </a:rPr>
              <a:t>      validate: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6" y="4645152"/>
            <a:ext cx="45720" cy="192024"/>
          </a:xfrm>
          <a:prstGeom prst="roundRect">
            <a:avLst>
              <a:gd name="adj" fmla="val 50000"/>
            </a:avLst>
          </a:prstGeom>
          <a:solidFill>
            <a:srgbClr val="E77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" y="4617720"/>
            <a:ext cx="55321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77E5B"/>
                </a:solidFill>
                <a:latin typeface="Consolas"/>
              </a:rPr>
              <a:t>        pattern:</a:t>
            </a:r>
          </a:p>
        </p:txBody>
      </p:sp>
      <p:sp>
        <p:nvSpPr>
          <p:cNvPr id="23" name="Oval 22"/>
          <p:cNvSpPr/>
          <p:nvPr/>
        </p:nvSpPr>
        <p:spPr>
          <a:xfrm>
            <a:off x="6455664" y="4604004"/>
            <a:ext cx="274320" cy="274320"/>
          </a:xfrm>
          <a:prstGeom prst="ellipse">
            <a:avLst/>
          </a:prstGeom>
          <a:solidFill>
            <a:srgbClr val="E77E5B"/>
          </a:solidFill>
          <a:ln w="19050">
            <a:solidFill>
              <a:srgbClr val="1417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4864608"/>
            <a:ext cx="55321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7CDD6"/>
                </a:solidFill>
                <a:latin typeface="Consolas"/>
              </a:rPr>
              <a:t>          spec: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5111496"/>
            <a:ext cx="55321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7CDD6"/>
                </a:solidFill>
                <a:latin typeface="Consolas"/>
              </a:rPr>
              <a:t>            containers: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5358384"/>
            <a:ext cx="55321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7CDD6"/>
                </a:solidFill>
                <a:latin typeface="Consolas"/>
              </a:rPr>
              <a:t>              - image: "*:* &amp; !*:latest"</a:t>
            </a:r>
          </a:p>
        </p:txBody>
      </p:sp>
      <p:sp>
        <p:nvSpPr>
          <p:cNvPr id="27" name="Oval 26"/>
          <p:cNvSpPr/>
          <p:nvPr/>
        </p:nvSpPr>
        <p:spPr>
          <a:xfrm>
            <a:off x="7178040" y="2011680"/>
            <a:ext cx="384048" cy="384048"/>
          </a:xfrm>
          <a:prstGeom prst="ellipse">
            <a:avLst/>
          </a:prstGeom>
          <a:solidFill>
            <a:srgbClr val="37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63256" y="1993392"/>
            <a:ext cx="389534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783C4"/>
                </a:solidFill>
                <a:latin typeface="Montserrat"/>
              </a:rPr>
              <a:t>MATCH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63256" y="2304288"/>
            <a:ext cx="389534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B1F"/>
                </a:solidFill>
                <a:latin typeface="Montserrat"/>
              </a:rPr>
              <a:t>Same targeting as Demo 1 — every Pod.</a:t>
            </a:r>
          </a:p>
        </p:txBody>
      </p:sp>
      <p:sp>
        <p:nvSpPr>
          <p:cNvPr id="30" name="Oval 29"/>
          <p:cNvSpPr/>
          <p:nvPr/>
        </p:nvSpPr>
        <p:spPr>
          <a:xfrm>
            <a:off x="7178040" y="3017520"/>
            <a:ext cx="384048" cy="384048"/>
          </a:xfrm>
          <a:prstGeom prst="ellipse">
            <a:avLst/>
          </a:prstGeom>
          <a:solidFill>
            <a:srgbClr val="E77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63256" y="2999232"/>
            <a:ext cx="389534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77E5B"/>
                </a:solidFill>
                <a:latin typeface="Montserrat"/>
              </a:rPr>
              <a:t>PATTERN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63256" y="3310128"/>
            <a:ext cx="389534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B1F"/>
                </a:solidFill>
                <a:latin typeface="Montserrat"/>
              </a:rPr>
              <a:t>"*:*" = image must have a tag. "!*:latest" = and it can’t be latest.</a:t>
            </a:r>
          </a:p>
        </p:txBody>
      </p:sp>
      <p:sp>
        <p:nvSpPr>
          <p:cNvPr id="33" name="Oval 32"/>
          <p:cNvSpPr/>
          <p:nvPr/>
        </p:nvSpPr>
        <p:spPr>
          <a:xfrm>
            <a:off x="7178040" y="4023360"/>
            <a:ext cx="384048" cy="384048"/>
          </a:xfrm>
          <a:prstGeom prst="ellipse">
            <a:avLst/>
          </a:prstGeom>
          <a:solidFill>
            <a:srgbClr val="EF4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63256" y="4005072"/>
            <a:ext cx="389534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F4023"/>
                </a:solidFill>
                <a:latin typeface="Montserrat"/>
              </a:rPr>
              <a:t>VALIDATIONFAILUREACTION: ENFORCE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63256" y="4315968"/>
            <a:ext cx="3895344" cy="728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endParaRPr lang="en-US" sz="1400" dirty="0">
              <a:solidFill>
                <a:srgbClr val="1A1B1F"/>
              </a:solidFill>
              <a:latin typeface="Montserrat"/>
            </a:endParaRPr>
          </a:p>
          <a:p>
            <a:pPr algn="l">
              <a:lnSpc>
                <a:spcPct val="114999"/>
              </a:lnSpc>
            </a:pPr>
            <a:r>
              <a:rPr sz="1400" b="0" i="0">
                <a:solidFill>
                  <a:srgbClr val="1A1B1F"/>
                </a:solidFill>
                <a:latin typeface="Montserrat"/>
              </a:rPr>
              <a:t>Same Enforce mode — the request is rejected, not just reported.</a:t>
            </a:r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6F76"/>
                </a:solidFill>
                <a:latin typeface="Montserrat"/>
              </a:rPr>
              <a:t>MillenniumIT ESP  ·  Kyverno Knowledge Share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6B6F76"/>
                </a:solidFill>
                <a:latin typeface="Montserrat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444752" cy="329184"/>
          </a:xfrm>
          <a:prstGeom prst="roundRect">
            <a:avLst>
              <a:gd name="adj" fmla="val 50000"/>
            </a:avLst>
          </a:prstGeom>
          <a:solidFill>
            <a:srgbClr val="FD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200" b="1" spc="120">
                <a:solidFill>
                  <a:srgbClr val="EF4023"/>
                </a:solidFill>
                <a:latin typeface="Montserrat"/>
              </a:rPr>
              <a:t>DEMO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B1F"/>
                </a:solidFill>
                <a:latin typeface="Montserrat"/>
              </a:rPr>
              <a:t>Disallow :latest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6B6F76"/>
                </a:solidFill>
                <a:latin typeface="Montserrat"/>
              </a:rPr>
              <a:t>Story: :latest is not reproducible.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91440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EF4023"/>
                </a:solidFill>
                <a:latin typeface="Montserrat"/>
              </a:rPr>
              <a:t>—  </a:t>
            </a:r>
            <a:r>
              <a:rPr sz="1700" b="0">
                <a:solidFill>
                  <a:srgbClr val="1A1B1F"/>
                </a:solidFill>
                <a:latin typeface="Montserrat"/>
              </a:rPr>
              <a:t>image must have a tag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90088"/>
            <a:ext cx="91440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EF4023"/>
                </a:solidFill>
                <a:latin typeface="Montserrat"/>
              </a:rPr>
              <a:t>—  </a:t>
            </a:r>
            <a:r>
              <a:rPr sz="1700" b="0">
                <a:solidFill>
                  <a:srgbClr val="1A1B1F"/>
                </a:solidFill>
                <a:latin typeface="Montserrat"/>
              </a:rPr>
              <a:t>tag must not be :latest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6B6F76"/>
                </a:solidFill>
                <a:latin typeface="Montserrat"/>
              </a:rPr>
              <a:t>Expect:   </a:t>
            </a:r>
            <a:r>
              <a:rPr sz="1700" b="1">
                <a:solidFill>
                  <a:srgbClr val="D64545"/>
                </a:solidFill>
                <a:latin typeface="Montserrat"/>
              </a:rPr>
              <a:t>nginx:latest → DENY</a:t>
            </a:r>
            <a:r>
              <a:rPr sz="1700" b="0">
                <a:solidFill>
                  <a:srgbClr val="6B6F76"/>
                </a:solidFill>
                <a:latin typeface="Montserrat"/>
              </a:rPr>
              <a:t>    ·    </a:t>
            </a:r>
            <a:r>
              <a:rPr sz="1700" b="1">
                <a:solidFill>
                  <a:srgbClr val="1F8A5B"/>
                </a:solidFill>
                <a:latin typeface="Montserrat"/>
              </a:rPr>
              <a:t>nginx:1.27 → ALLOW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1">
                <a:solidFill>
                  <a:srgbClr val="6B6F76"/>
                </a:solidFill>
                <a:latin typeface="Montserrat"/>
              </a:rPr>
              <a:t>Policies stack — they work together.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6F76"/>
                </a:solidFill>
                <a:latin typeface="Montserrat"/>
              </a:rPr>
              <a:t>MillenniumIT ESP  ·  Kyverno Knowledge Share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6B6F76"/>
                </a:solidFill>
                <a:latin typeface="Montserrat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 rot="1080000">
            <a:off x="10911535" y="-457200"/>
            <a:ext cx="1737360" cy="1737360"/>
          </a:xfrm>
          <a:prstGeom prst="roundRect">
            <a:avLst>
              <a:gd name="adj" fmla="val 22000"/>
            </a:avLst>
          </a:prstGeom>
          <a:solidFill>
            <a:srgbClr val="EF4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2377440"/>
            <a:ext cx="1938528" cy="329184"/>
          </a:xfrm>
          <a:prstGeom prst="roundRect">
            <a:avLst>
              <a:gd name="adj" fmla="val 50000"/>
            </a:avLst>
          </a:prstGeom>
          <a:solidFill>
            <a:srgbClr val="EF4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300" b="1" spc="120">
                <a:solidFill>
                  <a:srgbClr val="FFFFFF"/>
                </a:solidFill>
                <a:latin typeface="Montserrat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8036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Montserrat"/>
              </a:rPr>
              <a:t>Demo 3 — Mutate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947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BDC2"/>
                </a:solidFill>
                <a:latin typeface="Montserrat"/>
              </a:rPr>
              <a:t>Add default resources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9BDC2"/>
                </a:solidFill>
                <a:latin typeface="Montserrat"/>
              </a:rPr>
              <a:t>MillenniumIT ESP  ·  Kyverno Knowledge Share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B9BDC2"/>
                </a:solidFill>
                <a:latin typeface="Montserrat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4572000" cy="329184"/>
          </a:xfrm>
          <a:prstGeom prst="roundRect">
            <a:avLst>
              <a:gd name="adj" fmla="val 50000"/>
            </a:avLst>
          </a:prstGeom>
          <a:solidFill>
            <a:srgbClr val="FD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200" b="1" spc="120">
                <a:solidFill>
                  <a:srgbClr val="EF4023"/>
                </a:solidFill>
                <a:latin typeface="Montserrat"/>
              </a:rPr>
              <a:t>DEMO 3 · POLICY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B1F"/>
                </a:solidFill>
                <a:latin typeface="Montserrat"/>
              </a:rPr>
              <a:t>Mutate — default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B6F76"/>
                </a:solidFill>
                <a:latin typeface="Consolas"/>
              </a:rPr>
              <a:t>policies/03-add-default-resources.yaml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6309360" cy="4389120"/>
          </a:xfrm>
          <a:prstGeom prst="roundRect">
            <a:avLst>
              <a:gd name="adj" fmla="val 5000"/>
            </a:avLst>
          </a:prstGeom>
          <a:solidFill>
            <a:srgbClr val="14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2176272"/>
            <a:ext cx="45720" cy="150876"/>
          </a:xfrm>
          <a:prstGeom prst="roundRect">
            <a:avLst>
              <a:gd name="adj" fmla="val 50000"/>
            </a:avLst>
          </a:prstGeom>
          <a:solidFill>
            <a:srgbClr val="37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2148840"/>
            <a:ext cx="5532120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783C4"/>
                </a:solidFill>
                <a:latin typeface="Consolas"/>
              </a:rPr>
              <a:t>match:</a:t>
            </a:r>
          </a:p>
        </p:txBody>
      </p:sp>
      <p:sp>
        <p:nvSpPr>
          <p:cNvPr id="9" name="Oval 8"/>
          <p:cNvSpPr/>
          <p:nvPr/>
        </p:nvSpPr>
        <p:spPr>
          <a:xfrm>
            <a:off x="6455664" y="2114550"/>
            <a:ext cx="274320" cy="274320"/>
          </a:xfrm>
          <a:prstGeom prst="ellipse">
            <a:avLst/>
          </a:prstGeom>
          <a:solidFill>
            <a:srgbClr val="3783C4"/>
          </a:solidFill>
          <a:ln w="19050">
            <a:solidFill>
              <a:srgbClr val="1417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354580"/>
            <a:ext cx="5532120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7CDD6"/>
                </a:solidFill>
                <a:latin typeface="Consolas"/>
              </a:rPr>
              <a:t>  any: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60320"/>
            <a:ext cx="5532120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7CDD6"/>
                </a:solidFill>
                <a:latin typeface="Consolas"/>
              </a:rPr>
              <a:t>    - resources: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766060"/>
            <a:ext cx="5532120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7CDD6"/>
                </a:solidFill>
                <a:latin typeface="Consolas"/>
              </a:rPr>
              <a:t>        kinds: [Pod]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971800"/>
            <a:ext cx="5532120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7CDD6"/>
                </a:solidFill>
                <a:latin typeface="Consolas"/>
              </a:rPr>
              <a:t>        operations: [CREATE]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" y="3204972"/>
            <a:ext cx="45720" cy="150876"/>
          </a:xfrm>
          <a:prstGeom prst="roundRect">
            <a:avLst>
              <a:gd name="adj" fmla="val 50000"/>
            </a:avLst>
          </a:prstGeom>
          <a:solidFill>
            <a:srgbClr val="E77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" y="3177540"/>
            <a:ext cx="5532120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77E5B"/>
                </a:solidFill>
                <a:latin typeface="Consolas"/>
              </a:rPr>
              <a:t>preconditions:</a:t>
            </a:r>
          </a:p>
        </p:txBody>
      </p:sp>
      <p:sp>
        <p:nvSpPr>
          <p:cNvPr id="16" name="Oval 15"/>
          <p:cNvSpPr/>
          <p:nvPr/>
        </p:nvSpPr>
        <p:spPr>
          <a:xfrm>
            <a:off x="6455664" y="3143250"/>
            <a:ext cx="274320" cy="274320"/>
          </a:xfrm>
          <a:prstGeom prst="ellipse">
            <a:avLst/>
          </a:prstGeom>
          <a:solidFill>
            <a:srgbClr val="E77E5B"/>
          </a:solidFill>
          <a:ln w="19050">
            <a:solidFill>
              <a:srgbClr val="1417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383280"/>
            <a:ext cx="5532120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7CDD6"/>
                </a:solidFill>
                <a:latin typeface="Consolas"/>
              </a:rPr>
              <a:t>  all: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3589020"/>
            <a:ext cx="5532120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7CDD6"/>
                </a:solidFill>
                <a:latin typeface="Consolas"/>
              </a:rPr>
              <a:t>    - key: &gt;-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3794760"/>
            <a:ext cx="5532120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7CDD6"/>
                </a:solidFill>
                <a:latin typeface="Consolas"/>
              </a:rPr>
              <a:t>        {{ request.object.spec.containers[?resources.requests ||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4000500"/>
            <a:ext cx="5532120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7CDD6"/>
                </a:solidFill>
                <a:latin typeface="Consolas"/>
              </a:rPr>
              <a:t>        resources.limits] | length(@) 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4206240"/>
            <a:ext cx="5532120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7CDD6"/>
                </a:solidFill>
                <a:latin typeface="Consolas"/>
              </a:rPr>
              <a:t>      operator: Equals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4411980"/>
            <a:ext cx="5532120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7CDD6"/>
                </a:solidFill>
                <a:latin typeface="Consolas"/>
              </a:rPr>
              <a:t>      value: 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4617720"/>
            <a:ext cx="5532120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7CDD6"/>
                </a:solidFill>
                <a:latin typeface="Consolas"/>
              </a:rPr>
              <a:t>mutate: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6656" y="4850892"/>
            <a:ext cx="45720" cy="150876"/>
          </a:xfrm>
          <a:prstGeom prst="roundRect">
            <a:avLst>
              <a:gd name="adj" fmla="val 50000"/>
            </a:avLst>
          </a:prstGeom>
          <a:solidFill>
            <a:srgbClr val="EF4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8" y="4823460"/>
            <a:ext cx="5532120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F4023"/>
                </a:solidFill>
                <a:latin typeface="Consolas"/>
              </a:rPr>
              <a:t>  patchStrategicMerge:</a:t>
            </a:r>
          </a:p>
        </p:txBody>
      </p:sp>
      <p:sp>
        <p:nvSpPr>
          <p:cNvPr id="26" name="Oval 25"/>
          <p:cNvSpPr/>
          <p:nvPr/>
        </p:nvSpPr>
        <p:spPr>
          <a:xfrm>
            <a:off x="6455664" y="4789170"/>
            <a:ext cx="274320" cy="274320"/>
          </a:xfrm>
          <a:prstGeom prst="ellipse">
            <a:avLst/>
          </a:prstGeom>
          <a:solidFill>
            <a:srgbClr val="EF4023"/>
          </a:solidFill>
          <a:ln w="19050">
            <a:solidFill>
              <a:srgbClr val="1417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5029200"/>
            <a:ext cx="5532120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7CDD6"/>
                </a:solidFill>
                <a:latin typeface="Consolas"/>
              </a:rPr>
              <a:t>    spec: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5234940"/>
            <a:ext cx="5532120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7CDD6"/>
                </a:solidFill>
                <a:latin typeface="Consolas"/>
              </a:rPr>
              <a:t>      containers: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5440680"/>
            <a:ext cx="5532120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7CDD6"/>
                </a:solidFill>
                <a:latin typeface="Consolas"/>
              </a:rPr>
              <a:t>        - (name): "*"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5646420"/>
            <a:ext cx="5532120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7CDD6"/>
                </a:solidFill>
                <a:latin typeface="Consolas"/>
              </a:rPr>
              <a:t>          resources: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5852160"/>
            <a:ext cx="5532120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7CDD6"/>
                </a:solidFill>
                <a:latin typeface="Consolas"/>
              </a:rPr>
              <a:t>            requests: {memory: 64Mi, cpu: 50m}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6057900"/>
            <a:ext cx="5532120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7CDD6"/>
                </a:solidFill>
                <a:latin typeface="Consolas"/>
              </a:rPr>
              <a:t>            limits: {memory: 128Mi}</a:t>
            </a:r>
          </a:p>
        </p:txBody>
      </p:sp>
      <p:sp>
        <p:nvSpPr>
          <p:cNvPr id="33" name="Oval 32"/>
          <p:cNvSpPr/>
          <p:nvPr/>
        </p:nvSpPr>
        <p:spPr>
          <a:xfrm>
            <a:off x="7178040" y="2011680"/>
            <a:ext cx="384048" cy="384048"/>
          </a:xfrm>
          <a:prstGeom prst="ellipse">
            <a:avLst/>
          </a:prstGeom>
          <a:solidFill>
            <a:srgbClr val="37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63256" y="1993392"/>
            <a:ext cx="389534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783C4"/>
                </a:solidFill>
                <a:latin typeface="Montserrat"/>
              </a:rPr>
              <a:t>MATCH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63256" y="2304288"/>
            <a:ext cx="389534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B1F"/>
                </a:solidFill>
                <a:latin typeface="Montserrat"/>
              </a:rPr>
              <a:t>New Pods only (CREATE) — running Pods are never changed.</a:t>
            </a:r>
          </a:p>
        </p:txBody>
      </p:sp>
      <p:sp>
        <p:nvSpPr>
          <p:cNvPr id="36" name="Oval 35"/>
          <p:cNvSpPr/>
          <p:nvPr/>
        </p:nvSpPr>
        <p:spPr>
          <a:xfrm>
            <a:off x="7178040" y="3017520"/>
            <a:ext cx="384048" cy="384048"/>
          </a:xfrm>
          <a:prstGeom prst="ellipse">
            <a:avLst/>
          </a:prstGeom>
          <a:solidFill>
            <a:srgbClr val="E77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63256" y="2999232"/>
            <a:ext cx="389534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77E5B"/>
                </a:solidFill>
                <a:latin typeface="Montserrat"/>
              </a:rPr>
              <a:t>PRECONDITIONS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63256" y="3310128"/>
            <a:ext cx="389534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B1F"/>
                </a:solidFill>
                <a:latin typeface="Montserrat"/>
              </a:rPr>
              <a:t>Count containers that already set requests or limits. Only mutate if that count is 0.</a:t>
            </a:r>
          </a:p>
        </p:txBody>
      </p:sp>
      <p:sp>
        <p:nvSpPr>
          <p:cNvPr id="39" name="Oval 38"/>
          <p:cNvSpPr/>
          <p:nvPr/>
        </p:nvSpPr>
        <p:spPr>
          <a:xfrm>
            <a:off x="7178040" y="4023360"/>
            <a:ext cx="384048" cy="384048"/>
          </a:xfrm>
          <a:prstGeom prst="ellipse">
            <a:avLst/>
          </a:prstGeom>
          <a:solidFill>
            <a:srgbClr val="EF4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63256" y="4005072"/>
            <a:ext cx="389534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F4023"/>
                </a:solidFill>
                <a:latin typeface="Montserrat"/>
              </a:rPr>
              <a:t>PATCHSTRATEGICMERGE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63256" y="4315968"/>
            <a:ext cx="389534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B1F"/>
                </a:solidFill>
                <a:latin typeface="Montserrat"/>
              </a:rPr>
              <a:t>Add default requests + limit to every container. (name): "*" = any container.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6F76"/>
                </a:solidFill>
                <a:latin typeface="Montserrat"/>
              </a:rPr>
              <a:t>MillenniumIT ESP  ·  Kyverno Knowledge Share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6B6F76"/>
                </a:solidFill>
                <a:latin typeface="Montserrat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444752" cy="329184"/>
          </a:xfrm>
          <a:prstGeom prst="roundRect">
            <a:avLst>
              <a:gd name="adj" fmla="val 50000"/>
            </a:avLst>
          </a:prstGeom>
          <a:solidFill>
            <a:srgbClr val="FD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200" b="1" spc="120">
                <a:solidFill>
                  <a:srgbClr val="EF4023"/>
                </a:solidFill>
                <a:latin typeface="Montserrat"/>
              </a:rPr>
              <a:t>DEMO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B1F"/>
                </a:solidFill>
                <a:latin typeface="Montserrat"/>
              </a:rPr>
              <a:t>Mutate — default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6B6F76"/>
                </a:solidFill>
                <a:latin typeface="Montserrat"/>
              </a:rPr>
              <a:t>Story: Pods without requests confuse the scheduler — fill in safe defaults.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23160"/>
            <a:ext cx="10515600" cy="1188720"/>
          </a:xfrm>
          <a:prstGeom prst="roundRect">
            <a:avLst>
              <a:gd name="adj" fmla="val 10000"/>
            </a:avLst>
          </a:prstGeom>
          <a:solidFill>
            <a:srgbClr val="14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10896" tIns="164592" rIns="182880" bIns="164592" rtlCol="0" anchor="ctr"/>
          <a:lstStyle/>
          <a:p>
            <a:pPr algn="l">
              <a:lnSpc>
                <a:spcPct val="125000"/>
              </a:lnSpc>
            </a:pPr>
            <a:r>
              <a:rPr sz="1400">
                <a:solidFill>
                  <a:srgbClr val="E5EAF2"/>
                </a:solidFill>
                <a:latin typeface="Consolas"/>
              </a:rPr>
              <a:t>mutate-demo       {"limits":{"memory":"128Mi"},"requests":{"cpu":"50m","memory":"64Mi"}}</a:t>
            </a:r>
          </a:p>
          <a:p>
            <a:pPr algn="l">
              <a:lnSpc>
                <a:spcPct val="125000"/>
              </a:lnSpc>
            </a:pPr>
            <a:r>
              <a:rPr sz="1400">
                <a:solidFill>
                  <a:srgbClr val="E5EAF2"/>
                </a:solidFill>
                <a:latin typeface="Consolas"/>
              </a:rPr>
              <a:t>custom-resources  {"requests":{"cpu":"100m","memory":"256Mi"}}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587752"/>
            <a:ext cx="54864" cy="859536"/>
          </a:xfrm>
          <a:prstGeom prst="roundRect">
            <a:avLst>
              <a:gd name="adj" fmla="val 50000"/>
            </a:avLst>
          </a:prstGeom>
          <a:solidFill>
            <a:srgbClr val="E77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38862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6B6F76"/>
                </a:solidFill>
                <a:latin typeface="Montserrat"/>
              </a:rPr>
              <a:t>Expect:   </a:t>
            </a:r>
            <a:r>
              <a:rPr sz="1700" b="1">
                <a:solidFill>
                  <a:srgbClr val="E77E5B"/>
                </a:solidFill>
                <a:latin typeface="Montserrat"/>
              </a:rPr>
              <a:t>no resources → defaults added</a:t>
            </a:r>
            <a:r>
              <a:rPr sz="1700" b="0">
                <a:solidFill>
                  <a:srgbClr val="6B6F76"/>
                </a:solidFill>
                <a:latin typeface="Montserrat"/>
              </a:rPr>
              <a:t>    ·    </a:t>
            </a:r>
            <a:r>
              <a:rPr sz="1700" b="1">
                <a:solidFill>
                  <a:srgbClr val="1F8A5B"/>
                </a:solidFill>
                <a:latin typeface="Montserrat"/>
              </a:rPr>
              <a:t>own resources → untouched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805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1">
                <a:solidFill>
                  <a:srgbClr val="6B6F76"/>
                </a:solidFill>
                <a:latin typeface="Montserrat"/>
              </a:rPr>
              <a:t>Teams that set their own values are never overridden.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6F76"/>
                </a:solidFill>
                <a:latin typeface="Montserrat"/>
              </a:rPr>
              <a:t>MillenniumIT ESP  ·  Kyverno Knowledge Share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6B6F76"/>
                </a:solidFill>
                <a:latin typeface="Montserrat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D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200" b="1" spc="120">
                <a:solidFill>
                  <a:srgbClr val="EF4023"/>
                </a:solidFill>
                <a:latin typeface="Montserrat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B1F"/>
                </a:solidFill>
                <a:latin typeface="Montserrat"/>
              </a:rPr>
              <a:t>Validate vs Mutate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5385816" cy="1828800"/>
          </a:xfrm>
          <a:prstGeom prst="roundRect">
            <a:avLst>
              <a:gd name="adj" fmla="val 9000"/>
            </a:avLst>
          </a:prstGeom>
          <a:solidFill>
            <a:srgbClr val="F6F6F8"/>
          </a:solidFill>
          <a:ln w="9525">
            <a:solidFill>
              <a:srgbClr val="E4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385816" cy="82296"/>
          </a:xfrm>
          <a:prstGeom prst="roundRect">
            <a:avLst>
              <a:gd name="adj" fmla="val 90000"/>
            </a:avLst>
          </a:prstGeom>
          <a:solidFill>
            <a:srgbClr val="37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2395728"/>
            <a:ext cx="49286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783C4"/>
                </a:solidFill>
                <a:latin typeface="Montserrat"/>
              </a:rPr>
              <a:t>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816352"/>
            <a:ext cx="492861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B1F"/>
                </a:solidFill>
                <a:latin typeface="Montserrat"/>
              </a:rPr>
              <a:t>Allow or deny the request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2103120"/>
            <a:ext cx="5385816" cy="1828800"/>
          </a:xfrm>
          <a:prstGeom prst="roundRect">
            <a:avLst>
              <a:gd name="adj" fmla="val 9000"/>
            </a:avLst>
          </a:prstGeom>
          <a:solidFill>
            <a:srgbClr val="F6F6F8"/>
          </a:solidFill>
          <a:ln w="9525">
            <a:solidFill>
              <a:srgbClr val="E4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54496" y="2103120"/>
            <a:ext cx="5385816" cy="82296"/>
          </a:xfrm>
          <a:prstGeom prst="roundRect">
            <a:avLst>
              <a:gd name="adj" fmla="val 90000"/>
            </a:avLst>
          </a:prstGeom>
          <a:solidFill>
            <a:srgbClr val="E77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0528" y="2395728"/>
            <a:ext cx="49286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77E5B"/>
                </a:solidFill>
                <a:latin typeface="Montserrat"/>
              </a:rPr>
              <a:t>MUTATE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816352"/>
            <a:ext cx="492861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B1F"/>
                </a:solidFill>
                <a:latin typeface="Montserrat"/>
              </a:rPr>
              <a:t>Change the object, then allow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891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A1B1F"/>
                </a:solidFill>
                <a:latin typeface="Montserrat"/>
              </a:rPr>
              <a:t>Mutation happens in admission — what lands in the cluster already includes the change.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6F76"/>
                </a:solidFill>
                <a:latin typeface="Montserrat"/>
              </a:rPr>
              <a:t>MillenniumIT ESP  ·  Kyverno Knowledge Share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6B6F76"/>
                </a:solidFill>
                <a:latin typeface="Montserrat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FD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200" b="1" spc="120">
                <a:solidFill>
                  <a:srgbClr val="EF4023"/>
                </a:solidFill>
                <a:latin typeface="Montserrat"/>
              </a:rPr>
              <a:t>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B1F"/>
                </a:solidFill>
                <a:latin typeface="Montserrat"/>
              </a:rPr>
              <a:t>Ops tips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11091672" cy="4206240"/>
          </a:xfrm>
          <a:prstGeom prst="roundRect">
            <a:avLst>
              <a:gd name="adj" fmla="val 5000"/>
            </a:avLst>
          </a:prstGeom>
          <a:solidFill>
            <a:srgbClr val="F6F6F8"/>
          </a:solidFill>
          <a:ln w="9525">
            <a:solidFill>
              <a:srgbClr val="E4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EF4023"/>
                </a:solidFill>
                <a:latin typeface="Montserrat"/>
              </a:rPr>
              <a:t>—  </a:t>
            </a:r>
            <a:r>
              <a:rPr sz="1900" b="0">
                <a:solidFill>
                  <a:srgbClr val="1A1B1F"/>
                </a:solidFill>
                <a:latin typeface="Montserrat"/>
              </a:rPr>
              <a:t>Audit → Enforce in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EF4023"/>
                </a:solidFill>
                <a:latin typeface="Montserrat"/>
              </a:rPr>
              <a:t>—  </a:t>
            </a:r>
            <a:r>
              <a:rPr sz="1900" b="0">
                <a:solidFill>
                  <a:srgbClr val="1A1B1F"/>
                </a:solidFill>
                <a:latin typeface="Montserrat"/>
              </a:rPr>
              <a:t>Exclude kube-system / kyverno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EF4023"/>
                </a:solidFill>
                <a:latin typeface="Montserrat"/>
              </a:rPr>
              <a:t>—  </a:t>
            </a:r>
            <a:r>
              <a:rPr sz="1900" b="0">
                <a:solidFill>
                  <a:srgbClr val="1A1B1F"/>
                </a:solidFill>
                <a:latin typeface="Montserrat"/>
              </a:rPr>
              <a:t>Store policies in Git (GitOps-friendly)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EF4023"/>
                </a:solidFill>
                <a:latin typeface="Montserrat"/>
              </a:rPr>
              <a:t>—  </a:t>
            </a:r>
            <a:r>
              <a:rPr sz="1900" b="0">
                <a:solidFill>
                  <a:srgbClr val="1A1B1F"/>
                </a:solidFill>
                <a:latin typeface="Montserrat"/>
              </a:rPr>
              <a:t>Next level: generate NetPol, privileged blocks, image verify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6F76"/>
                </a:solidFill>
                <a:latin typeface="Montserrat"/>
              </a:rPr>
              <a:t>MillenniumIT ESP  ·  Kyverno Knowledge Share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6B6F76"/>
                </a:solidFill>
                <a:latin typeface="Montserrat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2267712" cy="329184"/>
          </a:xfrm>
          <a:prstGeom prst="roundRect">
            <a:avLst>
              <a:gd name="adj" fmla="val 50000"/>
            </a:avLst>
          </a:prstGeom>
          <a:solidFill>
            <a:srgbClr val="FD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200" b="1" spc="120">
                <a:solidFill>
                  <a:srgbClr val="EF4023"/>
                </a:solidFill>
                <a:latin typeface="Montserrat"/>
              </a:rPr>
              <a:t>WHAT’S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B1F"/>
                </a:solidFill>
                <a:latin typeface="Montserrat"/>
              </a:rPr>
              <a:t>Heads-up: CEL-based policies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385816" cy="1737360"/>
          </a:xfrm>
          <a:prstGeom prst="roundRect">
            <a:avLst>
              <a:gd name="adj" fmla="val 9000"/>
            </a:avLst>
          </a:prstGeom>
          <a:solidFill>
            <a:srgbClr val="F6F6F8"/>
          </a:solidFill>
          <a:ln w="9525">
            <a:solidFill>
              <a:srgbClr val="E4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85816" cy="82296"/>
          </a:xfrm>
          <a:prstGeom prst="roundRect">
            <a:avLst>
              <a:gd name="adj" fmla="val 90000"/>
            </a:avLst>
          </a:prstGeom>
          <a:solidFill>
            <a:srgbClr val="EF4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2212848"/>
            <a:ext cx="49286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F4023"/>
                </a:solidFill>
                <a:latin typeface="Montserrat"/>
              </a:rPr>
              <a:t>TODAY · CLUSTERPOLICY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633472"/>
            <a:ext cx="492861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B1F"/>
                </a:solidFill>
                <a:latin typeface="Montserrat"/>
              </a:rPr>
              <a:t>YAML patterns — deprecated in v1.19, removed in v1.20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1920240"/>
            <a:ext cx="5385816" cy="1737360"/>
          </a:xfrm>
          <a:prstGeom prst="roundRect">
            <a:avLst>
              <a:gd name="adj" fmla="val 9000"/>
            </a:avLst>
          </a:prstGeom>
          <a:solidFill>
            <a:srgbClr val="F6F6F8"/>
          </a:solidFill>
          <a:ln w="9525">
            <a:solidFill>
              <a:srgbClr val="E4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54496" y="1920240"/>
            <a:ext cx="5385816" cy="82296"/>
          </a:xfrm>
          <a:prstGeom prst="roundRect">
            <a:avLst>
              <a:gd name="adj" fmla="val 90000"/>
            </a:avLst>
          </a:prstGeom>
          <a:solidFill>
            <a:srgbClr val="37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0528" y="2212848"/>
            <a:ext cx="49286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783C4"/>
                </a:solidFill>
                <a:latin typeface="Montserrat"/>
              </a:rPr>
              <a:t>NEXT · VALIDATINGPOLICY / MUTATINGPOLICY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633472"/>
            <a:ext cx="492861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B1F"/>
                </a:solidFill>
                <a:latin typeface="Montserrat"/>
              </a:rPr>
              <a:t>Same ideas, rules written as short CEL expressions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31920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3783C4"/>
                </a:solidFill>
                <a:latin typeface="Montserrat"/>
              </a:rPr>
              <a:t>—  </a:t>
            </a:r>
            <a:r>
              <a:rPr sz="1700" b="0">
                <a:solidFill>
                  <a:srgbClr val="1A1B1F"/>
                </a:solidFill>
                <a:latin typeface="Montserrat"/>
              </a:rPr>
              <a:t>Same concepts carry over: match → rule → block or 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07408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3783C4"/>
                </a:solidFill>
                <a:latin typeface="Montserrat"/>
              </a:rPr>
              <a:t>—  </a:t>
            </a:r>
            <a:r>
              <a:rPr sz="1700" b="0">
                <a:solidFill>
                  <a:srgbClr val="1A1B1F"/>
                </a:solidFill>
                <a:latin typeface="Montserrat"/>
              </a:rPr>
              <a:t>CEL is the expression language Kubernetes itself uses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82896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3783C4"/>
                </a:solidFill>
                <a:latin typeface="Montserrat"/>
              </a:rPr>
              <a:t>—  </a:t>
            </a:r>
            <a:r>
              <a:rPr sz="1700" b="0">
                <a:solidFill>
                  <a:srgbClr val="1A1B1F"/>
                </a:solidFill>
                <a:latin typeface="Montserrat"/>
              </a:rPr>
              <a:t>Today we pinned chart 3.9.1 (Kyverno v1.19) so ClusterPolicy still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3492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1B1F"/>
                </a:solidFill>
                <a:latin typeface="Montserrat"/>
              </a:rPr>
              <a:t>Migration guide   </a:t>
            </a:r>
            <a:r>
              <a:rPr sz="1500" b="0">
                <a:solidFill>
                  <a:srgbClr val="6B6F76"/>
                </a:solidFill>
                <a:latin typeface="Montserrat"/>
              </a:rPr>
              <a:t>https://kyverno.io/docs/guides/migration-to-cel/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6F76"/>
                </a:solidFill>
                <a:latin typeface="Montserrat"/>
              </a:rPr>
              <a:t>MillenniumIT ESP  ·  Kyverno Knowledge Share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6B6F76"/>
                </a:solidFill>
                <a:latin typeface="Montserrat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3913631" cy="329184"/>
          </a:xfrm>
          <a:prstGeom prst="roundRect">
            <a:avLst>
              <a:gd name="adj" fmla="val 50000"/>
            </a:avLst>
          </a:prstGeom>
          <a:solidFill>
            <a:srgbClr val="FD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200" b="1" spc="120">
                <a:solidFill>
                  <a:srgbClr val="EF4023"/>
                </a:solidFill>
                <a:latin typeface="Montserrat"/>
              </a:rPr>
              <a:t>DEMO 1 · SIDE BY 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B1F"/>
                </a:solidFill>
                <a:latin typeface="Montserrat"/>
              </a:rPr>
              <a:t>Same rule, two formats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F4023"/>
                </a:solidFill>
                <a:latin typeface="Montserrat"/>
              </a:rPr>
              <a:t>TODAY · YAML PATTERN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5352" y="169164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783C4"/>
                </a:solidFill>
                <a:latin typeface="Montserrat"/>
              </a:rPr>
              <a:t>NEXT · CEL EXPRESSION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1">
                <a:solidFill>
                  <a:srgbClr val="6B6F76"/>
                </a:solidFill>
                <a:latin typeface="Consolas"/>
              </a:rPr>
              <a:t>policies/01-require-labels.yaml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5352" y="169164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1">
                <a:solidFill>
                  <a:srgbClr val="6B6F76"/>
                </a:solidFill>
                <a:latin typeface="Consolas"/>
              </a:rPr>
              <a:t>policies/cel/01-require-labels.yaml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57400"/>
            <a:ext cx="5394960" cy="3483864"/>
          </a:xfrm>
          <a:prstGeom prst="roundRect">
            <a:avLst>
              <a:gd name="adj" fmla="val 5000"/>
            </a:avLst>
          </a:prstGeom>
          <a:solidFill>
            <a:srgbClr val="14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2194560"/>
            <a:ext cx="46177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7CDD6"/>
                </a:solidFill>
                <a:latin typeface="Consolas"/>
              </a:rPr>
              <a:t>kind: ClusterPolicy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441448"/>
            <a:ext cx="46177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7CDD6"/>
                </a:solidFill>
                <a:latin typeface="Consolas"/>
              </a:rPr>
              <a:t>spec: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" y="2715768"/>
            <a:ext cx="45720" cy="192024"/>
          </a:xfrm>
          <a:prstGeom prst="roundRect">
            <a:avLst>
              <a:gd name="adj" fmla="val 50000"/>
            </a:avLst>
          </a:prstGeom>
          <a:solidFill>
            <a:srgbClr val="EF4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2688336"/>
            <a:ext cx="46177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F4023"/>
                </a:solidFill>
                <a:latin typeface="Consolas"/>
              </a:rPr>
              <a:t>  validationFailureAction: Enforce</a:t>
            </a:r>
          </a:p>
        </p:txBody>
      </p:sp>
      <p:sp>
        <p:nvSpPr>
          <p:cNvPr id="14" name="Oval 13"/>
          <p:cNvSpPr/>
          <p:nvPr/>
        </p:nvSpPr>
        <p:spPr>
          <a:xfrm>
            <a:off x="5541264" y="2674620"/>
            <a:ext cx="274320" cy="274320"/>
          </a:xfrm>
          <a:prstGeom prst="ellipse">
            <a:avLst/>
          </a:prstGeom>
          <a:solidFill>
            <a:srgbClr val="EF4023"/>
          </a:solidFill>
          <a:ln w="19050">
            <a:solidFill>
              <a:srgbClr val="1417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2935224"/>
            <a:ext cx="46177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7CDD6"/>
                </a:solidFill>
                <a:latin typeface="Consolas"/>
              </a:rPr>
              <a:t>  rules: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" y="3209544"/>
            <a:ext cx="45720" cy="192024"/>
          </a:xfrm>
          <a:prstGeom prst="roundRect">
            <a:avLst>
              <a:gd name="adj" fmla="val 50000"/>
            </a:avLst>
          </a:prstGeom>
          <a:solidFill>
            <a:srgbClr val="37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" y="3182112"/>
            <a:ext cx="46177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3783C4"/>
                </a:solidFill>
                <a:latin typeface="Consolas"/>
              </a:rPr>
              <a:t>    - match:</a:t>
            </a:r>
          </a:p>
        </p:txBody>
      </p:sp>
      <p:sp>
        <p:nvSpPr>
          <p:cNvPr id="18" name="Oval 17"/>
          <p:cNvSpPr/>
          <p:nvPr/>
        </p:nvSpPr>
        <p:spPr>
          <a:xfrm>
            <a:off x="5541264" y="3168396"/>
            <a:ext cx="274320" cy="274320"/>
          </a:xfrm>
          <a:prstGeom prst="ellipse">
            <a:avLst/>
          </a:prstGeom>
          <a:solidFill>
            <a:srgbClr val="3783C4"/>
          </a:solidFill>
          <a:ln w="19050">
            <a:solidFill>
              <a:srgbClr val="1417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3429000"/>
            <a:ext cx="46177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7CDD6"/>
                </a:solidFill>
                <a:latin typeface="Consolas"/>
              </a:rPr>
              <a:t>        any: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675888"/>
            <a:ext cx="46177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7CDD6"/>
                </a:solidFill>
                <a:latin typeface="Consolas"/>
              </a:rPr>
              <a:t>          - resources: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3922776"/>
            <a:ext cx="46177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7CDD6"/>
                </a:solidFill>
                <a:latin typeface="Consolas"/>
              </a:rPr>
              <a:t>              kinds: [Pod]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4169664"/>
            <a:ext cx="46177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7CDD6"/>
                </a:solidFill>
                <a:latin typeface="Consolas"/>
              </a:rPr>
              <a:t>      validate: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" y="4443984"/>
            <a:ext cx="45720" cy="192024"/>
          </a:xfrm>
          <a:prstGeom prst="roundRect">
            <a:avLst>
              <a:gd name="adj" fmla="val 50000"/>
            </a:avLst>
          </a:prstGeom>
          <a:solidFill>
            <a:srgbClr val="E77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1248" y="4416552"/>
            <a:ext cx="46177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77E5B"/>
                </a:solidFill>
                <a:latin typeface="Consolas"/>
              </a:rPr>
              <a:t>        pattern:</a:t>
            </a:r>
          </a:p>
        </p:txBody>
      </p:sp>
      <p:sp>
        <p:nvSpPr>
          <p:cNvPr id="25" name="Oval 24"/>
          <p:cNvSpPr/>
          <p:nvPr/>
        </p:nvSpPr>
        <p:spPr>
          <a:xfrm>
            <a:off x="5541264" y="4402836"/>
            <a:ext cx="274320" cy="274320"/>
          </a:xfrm>
          <a:prstGeom prst="ellipse">
            <a:avLst/>
          </a:prstGeom>
          <a:solidFill>
            <a:srgbClr val="E77E5B"/>
          </a:solidFill>
          <a:ln w="19050">
            <a:solidFill>
              <a:srgbClr val="1417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4663440"/>
            <a:ext cx="46177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7CDD6"/>
                </a:solidFill>
                <a:latin typeface="Consolas"/>
              </a:rPr>
              <a:t>          metadata: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4910328"/>
            <a:ext cx="46177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7CDD6"/>
                </a:solidFill>
                <a:latin typeface="Consolas"/>
              </a:rPr>
              <a:t>            labels: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5157216"/>
            <a:ext cx="46177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7CDD6"/>
                </a:solidFill>
                <a:latin typeface="Consolas"/>
              </a:rPr>
              <a:t>              app: "?*"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45352" y="2057400"/>
            <a:ext cx="5394960" cy="3483864"/>
          </a:xfrm>
          <a:prstGeom prst="roundRect">
            <a:avLst>
              <a:gd name="adj" fmla="val 5000"/>
            </a:avLst>
          </a:prstGeom>
          <a:solidFill>
            <a:srgbClr val="14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37960" y="2194560"/>
            <a:ext cx="46177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7CDD6"/>
                </a:solidFill>
                <a:latin typeface="Consolas"/>
              </a:rPr>
              <a:t>kind: ValidatingPolicy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2441448"/>
            <a:ext cx="46177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7CDD6"/>
                </a:solidFill>
                <a:latin typeface="Consolas"/>
              </a:rPr>
              <a:t>spec: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73368" y="2715768"/>
            <a:ext cx="45720" cy="192024"/>
          </a:xfrm>
          <a:prstGeom prst="roundRect">
            <a:avLst>
              <a:gd name="adj" fmla="val 50000"/>
            </a:avLst>
          </a:prstGeom>
          <a:solidFill>
            <a:srgbClr val="EF4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37960" y="2688336"/>
            <a:ext cx="46177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F4023"/>
                </a:solidFill>
                <a:latin typeface="Consolas"/>
              </a:rPr>
              <a:t>  validationActions: [Deny]</a:t>
            </a:r>
          </a:p>
        </p:txBody>
      </p:sp>
      <p:sp>
        <p:nvSpPr>
          <p:cNvPr id="34" name="Oval 33"/>
          <p:cNvSpPr/>
          <p:nvPr/>
        </p:nvSpPr>
        <p:spPr>
          <a:xfrm>
            <a:off x="11237976" y="2674620"/>
            <a:ext cx="274320" cy="274320"/>
          </a:xfrm>
          <a:prstGeom prst="ellipse">
            <a:avLst/>
          </a:prstGeom>
          <a:solidFill>
            <a:srgbClr val="EF4023"/>
          </a:solidFill>
          <a:ln w="19050">
            <a:solidFill>
              <a:srgbClr val="1417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73368" y="2962656"/>
            <a:ext cx="45720" cy="192024"/>
          </a:xfrm>
          <a:prstGeom prst="roundRect">
            <a:avLst>
              <a:gd name="adj" fmla="val 50000"/>
            </a:avLst>
          </a:prstGeom>
          <a:solidFill>
            <a:srgbClr val="37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37960" y="2935224"/>
            <a:ext cx="46177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3783C4"/>
                </a:solidFill>
                <a:latin typeface="Consolas"/>
              </a:rPr>
              <a:t>  matchConstraints:</a:t>
            </a:r>
          </a:p>
        </p:txBody>
      </p:sp>
      <p:sp>
        <p:nvSpPr>
          <p:cNvPr id="37" name="Oval 36"/>
          <p:cNvSpPr/>
          <p:nvPr/>
        </p:nvSpPr>
        <p:spPr>
          <a:xfrm>
            <a:off x="11237976" y="2921508"/>
            <a:ext cx="274320" cy="274320"/>
          </a:xfrm>
          <a:prstGeom prst="ellipse">
            <a:avLst/>
          </a:prstGeom>
          <a:solidFill>
            <a:srgbClr val="3783C4"/>
          </a:solidFill>
          <a:ln w="19050">
            <a:solidFill>
              <a:srgbClr val="1417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3182112"/>
            <a:ext cx="46177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7CDD6"/>
                </a:solidFill>
                <a:latin typeface="Consolas"/>
              </a:rPr>
              <a:t>    resourceRules: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3429000"/>
            <a:ext cx="46177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7CDD6"/>
                </a:solidFill>
                <a:latin typeface="Consolas"/>
              </a:rPr>
              <a:t>      - resources: [pods]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3675888"/>
            <a:ext cx="46177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7CDD6"/>
                </a:solidFill>
                <a:latin typeface="Consolas"/>
              </a:rPr>
              <a:t>        operations: [CREATE, UPDATE]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73368" y="3950208"/>
            <a:ext cx="45720" cy="192024"/>
          </a:xfrm>
          <a:prstGeom prst="roundRect">
            <a:avLst>
              <a:gd name="adj" fmla="val 50000"/>
            </a:avLst>
          </a:prstGeom>
          <a:solidFill>
            <a:srgbClr val="E77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37960" y="3922776"/>
            <a:ext cx="46177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77E5B"/>
                </a:solidFill>
                <a:latin typeface="Consolas"/>
              </a:rPr>
              <a:t>  validations:</a:t>
            </a:r>
          </a:p>
        </p:txBody>
      </p:sp>
      <p:sp>
        <p:nvSpPr>
          <p:cNvPr id="43" name="Oval 42"/>
          <p:cNvSpPr/>
          <p:nvPr/>
        </p:nvSpPr>
        <p:spPr>
          <a:xfrm>
            <a:off x="11237976" y="3909060"/>
            <a:ext cx="274320" cy="274320"/>
          </a:xfrm>
          <a:prstGeom prst="ellipse">
            <a:avLst/>
          </a:prstGeom>
          <a:solidFill>
            <a:srgbClr val="E77E5B"/>
          </a:solidFill>
          <a:ln w="19050">
            <a:solidFill>
              <a:srgbClr val="1417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4169664"/>
            <a:ext cx="46177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7CDD6"/>
                </a:solidFill>
                <a:latin typeface="Consolas"/>
              </a:rPr>
              <a:t>    - expression: &gt;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37960" y="4416552"/>
            <a:ext cx="46177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7CDD6"/>
                </a:solidFill>
                <a:latin typeface="Consolas"/>
              </a:rPr>
              <a:t>        has(object.metadata.labels) &amp;&amp;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4663440"/>
            <a:ext cx="46177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7CDD6"/>
                </a:solidFill>
                <a:latin typeface="Consolas"/>
              </a:rPr>
              <a:t>        'app' in object.metadata.labels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37960" y="4910328"/>
            <a:ext cx="46177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537960" y="5157216"/>
            <a:ext cx="46177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783C4"/>
                </a:solidFill>
                <a:latin typeface="Montserrat"/>
              </a:rPr>
              <a:t>1</a:t>
            </a:r>
            <a:r>
              <a:rPr sz="1500" b="0">
                <a:solidFill>
                  <a:srgbClr val="1A1B1F"/>
                </a:solidFill>
                <a:latin typeface="Montserrat"/>
              </a:rPr>
              <a:t> what to match   ·   </a:t>
            </a:r>
            <a:r>
              <a:rPr sz="1500" b="1">
                <a:solidFill>
                  <a:srgbClr val="E77E5B"/>
                </a:solidFill>
                <a:latin typeface="Montserrat"/>
              </a:rPr>
              <a:t>2</a:t>
            </a:r>
            <a:r>
              <a:rPr sz="1500" b="0">
                <a:solidFill>
                  <a:srgbClr val="1A1B1F"/>
                </a:solidFill>
                <a:latin typeface="Montserrat"/>
              </a:rPr>
              <a:t> the rule   ·   </a:t>
            </a:r>
            <a:r>
              <a:rPr sz="1500" b="1">
                <a:solidFill>
                  <a:srgbClr val="EF4023"/>
                </a:solidFill>
                <a:latin typeface="Montserrat"/>
              </a:rPr>
              <a:t>3</a:t>
            </a:r>
            <a:r>
              <a:rPr sz="1500" b="0">
                <a:solidFill>
                  <a:srgbClr val="1A1B1F"/>
                </a:solidFill>
                <a:latin typeface="Montserrat"/>
              </a:rPr>
              <a:t> block or report   </a:t>
            </a:r>
            <a:r>
              <a:rPr sz="1500" b="0">
                <a:solidFill>
                  <a:srgbClr val="6B6F76"/>
                </a:solidFill>
                <a:latin typeface="Montserrat"/>
              </a:rPr>
              <a:t>— same three parts, new syntax.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6F76"/>
                </a:solidFill>
                <a:latin typeface="Montserrat"/>
              </a:rPr>
              <a:t>MillenniumIT ESP  ·  Kyverno Knowledge Share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6B6F76"/>
                </a:solidFill>
                <a:latin typeface="Montserrat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938528" cy="329184"/>
          </a:xfrm>
          <a:prstGeom prst="roundRect">
            <a:avLst>
              <a:gd name="adj" fmla="val 50000"/>
            </a:avLst>
          </a:prstGeom>
          <a:solidFill>
            <a:srgbClr val="FD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200" b="1" spc="120">
                <a:solidFill>
                  <a:srgbClr val="EF4023"/>
                </a:solidFill>
                <a:latin typeface="Montserrat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B1F"/>
                </a:solidFill>
                <a:latin typeface="Montserrat"/>
              </a:rPr>
              <a:t>What we covered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11091672" cy="4206240"/>
          </a:xfrm>
          <a:prstGeom prst="roundRect">
            <a:avLst>
              <a:gd name="adj" fmla="val 5000"/>
            </a:avLst>
          </a:prstGeom>
          <a:solidFill>
            <a:srgbClr val="F6F6F8"/>
          </a:solidFill>
          <a:ln w="9525">
            <a:solidFill>
              <a:srgbClr val="E4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EF4023"/>
                </a:solidFill>
                <a:latin typeface="Montserrat"/>
              </a:rPr>
              <a:t>—  </a:t>
            </a:r>
            <a:r>
              <a:rPr sz="1900" b="0">
                <a:solidFill>
                  <a:srgbClr val="1A1B1F"/>
                </a:solidFill>
                <a:latin typeface="Montserrat"/>
              </a:rPr>
              <a:t>Install Kyverno with Helm on Minikube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EF4023"/>
                </a:solidFill>
                <a:latin typeface="Montserrat"/>
              </a:rPr>
              <a:t>—  </a:t>
            </a:r>
            <a:r>
              <a:rPr sz="1900" b="0">
                <a:solidFill>
                  <a:srgbClr val="1A1B1F"/>
                </a:solidFill>
                <a:latin typeface="Montserrat"/>
              </a:rPr>
              <a:t>Validate: require label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EF4023"/>
                </a:solidFill>
                <a:latin typeface="Montserrat"/>
              </a:rPr>
              <a:t>—  </a:t>
            </a:r>
            <a:r>
              <a:rPr sz="1900" b="0">
                <a:solidFill>
                  <a:srgbClr val="1A1B1F"/>
                </a:solidFill>
                <a:latin typeface="Montserrat"/>
              </a:rPr>
              <a:t>Validate: block :latest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EF4023"/>
                </a:solidFill>
                <a:latin typeface="Montserrat"/>
              </a:rPr>
              <a:t>—  </a:t>
            </a:r>
            <a:r>
              <a:rPr sz="1900" b="0">
                <a:solidFill>
                  <a:srgbClr val="1A1B1F"/>
                </a:solidFill>
                <a:latin typeface="Montserrat"/>
              </a:rPr>
              <a:t>Mutate: add default resources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1772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EF4023"/>
                </a:solidFill>
                <a:latin typeface="Montserrat"/>
              </a:rPr>
              <a:t>Enough to start useful guardrails.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6F76"/>
                </a:solidFill>
                <a:latin typeface="Montserrat"/>
              </a:rPr>
              <a:t>MillenniumIT ESP  ·  Kyverno Knowledge Share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6B6F76"/>
                </a:solidFill>
                <a:latin typeface="Montserrat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 rot="1080000">
            <a:off x="10271455" y="-457200"/>
            <a:ext cx="2377440" cy="2377440"/>
          </a:xfrm>
          <a:prstGeom prst="roundRect">
            <a:avLst>
              <a:gd name="adj" fmla="val 22000"/>
            </a:avLst>
          </a:prstGeom>
          <a:solidFill>
            <a:srgbClr val="EF4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itesp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959427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4572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MillenniumIT ESP</a:t>
            </a:r>
          </a:p>
        </p:txBody>
      </p:sp>
      <p:pic>
        <p:nvPicPr>
          <p:cNvPr id="6" name="Picture 5" descr="kyvern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457200"/>
            <a:ext cx="48768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46920" y="4572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 i="0">
                <a:solidFill>
                  <a:srgbClr val="8FC4EE"/>
                </a:solidFill>
                <a:latin typeface="Montserrat"/>
              </a:rPr>
              <a:t>Kyverno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1609344" cy="329184"/>
          </a:xfrm>
          <a:prstGeom prst="roundRect">
            <a:avLst>
              <a:gd name="adj" fmla="val 50000"/>
            </a:avLst>
          </a:prstGeom>
          <a:solidFill>
            <a:srgbClr val="EF4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200" b="1" spc="120">
                <a:solidFill>
                  <a:srgbClr val="FFFFFF"/>
                </a:solidFill>
                <a:latin typeface="Montserrat"/>
              </a:rPr>
              <a:t>WRAP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FFFFFF"/>
                </a:solidFill>
                <a:latin typeface="Montserrat"/>
              </a:rPr>
              <a:t>Questions?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B9BDC2"/>
                </a:solidFill>
                <a:latin typeface="Montserrat"/>
              </a:rPr>
              <a:t>Slides and policies from today are in the demo repo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7200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F4023"/>
                </a:solidFill>
                <a:latin typeface="Montserrat"/>
              </a:rPr>
              <a:t>RESOURCES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377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ontserrat"/>
              </a:rPr>
              <a:t>Demo repo   </a:t>
            </a:r>
            <a:r>
              <a:rPr sz="1500" b="1">
                <a:solidFill>
                  <a:srgbClr val="EF4023"/>
                </a:solidFill>
                <a:latin typeface="Montserrat"/>
              </a:rPr>
              <a:t>https://github.com/lahirukmit/kyverno-demo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035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ontserrat"/>
              </a:rPr>
              <a:t>Minikube docs   </a:t>
            </a:r>
            <a:r>
              <a:rPr sz="1500" b="0">
                <a:solidFill>
                  <a:srgbClr val="B9BDC2"/>
                </a:solidFill>
                <a:latin typeface="Montserrat"/>
              </a:rPr>
              <a:t>https://minikube.sigs.k8s.io/docs/start/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ontserrat"/>
              </a:rPr>
              <a:t>Kyverno docs   </a:t>
            </a:r>
            <a:r>
              <a:rPr sz="1500" b="0">
                <a:solidFill>
                  <a:srgbClr val="B9BDC2"/>
                </a:solidFill>
                <a:latin typeface="Montserrat"/>
              </a:rPr>
              <a:t>https://kyverno.io/docs/introduction/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9BDC2"/>
                </a:solidFill>
                <a:latin typeface="Montserrat"/>
              </a:rPr>
              <a:t>github.com/lahirukmit/kyverno-demo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B9BDC2"/>
                </a:solidFill>
                <a:latin typeface="Montserrat"/>
              </a:rP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11</cp:revision>
  <dcterms:created xsi:type="dcterms:W3CDTF">2013-01-27T09:14:16Z</dcterms:created>
  <dcterms:modified xsi:type="dcterms:W3CDTF">2026-10-29T15:29:50Z</dcterms:modified>
  <cp:category/>
</cp:coreProperties>
</file>