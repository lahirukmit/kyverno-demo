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7A7C19-17A7-2556-668E-9128A0750CC5}" v="65" dt="2026-10-29T15:29:00.119"/>
    <p1510:client id="{E14687BD-7748-D53A-2EAA-443C3BB2FFDA}" v="18" dt="2026-10-29T15:48:11.6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itesp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959427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" y="45720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ontserrat"/>
              </a:rPr>
              <a:t>MillenniumIT ESP</a:t>
            </a:r>
          </a:p>
        </p:txBody>
      </p:sp>
      <p:pic>
        <p:nvPicPr>
          <p:cNvPr id="6" name="Picture 5" descr="kyvern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57200"/>
            <a:ext cx="48768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46920" y="45720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 i="0">
                <a:solidFill>
                  <a:srgbClr val="8FC4EE"/>
                </a:solidFill>
                <a:latin typeface="Montserrat"/>
              </a:rPr>
              <a:t>Kyverno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2926079" cy="329184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200" b="1" spc="120">
                <a:solidFill>
                  <a:srgbClr val="FFFFFF"/>
                </a:solidFill>
                <a:latin typeface="Montserrat"/>
              </a:rPr>
              <a:t>KNOWLEDGE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96012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Montserrat"/>
              </a:rPr>
              <a:t>Kyverno on </a:t>
            </a:r>
            <a:r>
              <a:rPr sz="5200" b="1">
                <a:solidFill>
                  <a:srgbClr val="EF4023"/>
                </a:solidFill>
                <a:latin typeface="Montserrat"/>
              </a:rPr>
              <a:t>Kubernetes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2044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B9BDC2"/>
                </a:solidFill>
                <a:latin typeface="Montserrat"/>
              </a:rPr>
              <a:t>Deploy · validate · mutate — simple live demos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26280"/>
            <a:ext cx="96012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500" b="1" dirty="0">
                <a:solidFill>
                  <a:srgbClr val="B9BDC2"/>
                </a:solidFill>
                <a:latin typeface="Montserrat"/>
              </a:rPr>
              <a:t>Cloud &amp; DevOps</a:t>
            </a:r>
            <a:r>
              <a:rPr sz="1500" b="1" i="0" dirty="0">
                <a:solidFill>
                  <a:srgbClr val="B9BDC2"/>
                </a:solidFill>
                <a:latin typeface="Montserrat"/>
              </a:rPr>
              <a:t>  ·  ~40 minutes  ·  </a:t>
            </a:r>
            <a:r>
              <a:rPr sz="1500" b="1" i="0" dirty="0" err="1">
                <a:solidFill>
                  <a:srgbClr val="B9BDC2"/>
                </a:solidFill>
                <a:latin typeface="Montserrat"/>
              </a:rPr>
              <a:t>Minikube</a:t>
            </a:r>
            <a:endParaRPr lang="en-US" sz="1500" b="1" i="0" dirty="0" err="1">
              <a:solidFill>
                <a:srgbClr val="B9BDC2"/>
              </a:solidFill>
              <a:latin typeface="Montserra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9BDC2"/>
                </a:solidFill>
                <a:latin typeface="Montserrat"/>
              </a:rPr>
              <a:t>TechOps · Knowledge Share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B9BDC2"/>
                </a:solidFill>
                <a:latin typeface="Montserra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444752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What we’ll cover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11091672" cy="4206240"/>
          </a:xfrm>
          <a:prstGeom prst="roundRect">
            <a:avLst>
              <a:gd name="adj" fmla="val 5000"/>
            </a:avLst>
          </a:prstGeom>
          <a:solidFill>
            <a:srgbClr val="F6F6F8"/>
          </a:solidFill>
          <a:ln w="9525">
            <a:solidFill>
              <a:srgbClr val="E4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14400" y="22860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286000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B1F"/>
                </a:solidFill>
                <a:latin typeface="Montserrat"/>
              </a:rPr>
              <a:t>Why Kyverno?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88950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889504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B1F"/>
                </a:solidFill>
                <a:latin typeface="Montserrat"/>
              </a:rPr>
              <a:t>Install on Minikube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493008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B1F"/>
                </a:solidFill>
                <a:latin typeface="Montserrat"/>
              </a:rPr>
              <a:t>Demo 1 — Require app label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09651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096512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B1F"/>
                </a:solidFill>
                <a:latin typeface="Montserrat"/>
              </a:rPr>
              <a:t>Demo 2 — Disallow :latest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70001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700016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B1F"/>
                </a:solidFill>
                <a:latin typeface="Montserrat"/>
              </a:rPr>
              <a:t>Demo 3 — Mutate (add label)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53035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5303520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B1F"/>
                </a:solidFill>
                <a:latin typeface="Montserrat"/>
              </a:rPr>
              <a:t>Ops tips + Q&amp;A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609344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1A1B1F"/>
                </a:solidFill>
                <a:latin typeface="Montserrat"/>
              </a:rPr>
              <a:t>Anyone can kubectl apply a Pod with: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86868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no labels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90088"/>
            <a:ext cx="86868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image: nginx:latest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65576"/>
            <a:ext cx="86868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no shared standards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160520"/>
            <a:ext cx="10424160" cy="1005840"/>
          </a:xfrm>
          <a:prstGeom prst="roundRect">
            <a:avLst>
              <a:gd name="adj" fmla="val 12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48640" y="4297680"/>
            <a:ext cx="54864" cy="731520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4343400"/>
            <a:ext cx="97840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A1B1F"/>
                </a:solidFill>
                <a:latin typeface="Montserrat"/>
              </a:rPr>
              <a:t>On a shared cluster that becomes chaos — hard to find owners, hard to reproduce what ran.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What is Kyverno?</a:t>
            </a:r>
          </a:p>
        </p:txBody>
      </p:sp>
      <p:pic>
        <p:nvPicPr>
          <p:cNvPr id="5" name="Picture 4" descr="kyvern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914400"/>
            <a:ext cx="877824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3783C4"/>
                </a:solidFill>
                <a:latin typeface="Montserrat"/>
              </a:rPr>
              <a:t>A Kubernetes-native policy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9144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783C4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Policies written in plain 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90088"/>
            <a:ext cx="9144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783C4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Same mental model as Deployments &amp; Services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65576"/>
            <a:ext cx="9144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783C4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No new language to learn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43400"/>
            <a:ext cx="10424160" cy="822960"/>
          </a:xfrm>
          <a:prstGeom prst="roundRect">
            <a:avLst>
              <a:gd name="adj" fmla="val 14000"/>
            </a:avLst>
          </a:prstGeom>
          <a:solidFill>
            <a:srgbClr val="E3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4343400"/>
            <a:ext cx="97840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1">
                <a:solidFill>
                  <a:srgbClr val="245C8F"/>
                </a:solidFill>
                <a:latin typeface="Montserrat"/>
              </a:rPr>
              <a:t>“Guardrails for what resources are allowed to look like”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CORE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Two verbs today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65960"/>
          <a:ext cx="8686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95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 spc="100">
                          <a:solidFill>
                            <a:srgbClr val="FFFFFF"/>
                          </a:solidFill>
                          <a:latin typeface="Montserrat"/>
                        </a:rPr>
                        <a:t>VERB</a:t>
                      </a:r>
                    </a:p>
                  </a:txBody>
                  <a:tcPr marL="128016" marT="54864" anchor="ctr">
                    <a:solidFill>
                      <a:srgbClr val="3783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spc="100">
                          <a:solidFill>
                            <a:srgbClr val="FFFFFF"/>
                          </a:solidFill>
                          <a:latin typeface="Montserrat"/>
                        </a:rPr>
                        <a:t>MEANING</a:t>
                      </a:r>
                    </a:p>
                  </a:txBody>
                  <a:tcPr marL="128016" marT="54864" anchor="ctr">
                    <a:solidFill>
                      <a:srgbClr val="3783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spc="100">
                          <a:solidFill>
                            <a:srgbClr val="FFFFFF"/>
                          </a:solidFill>
                          <a:latin typeface="Montserrat"/>
                        </a:rPr>
                        <a:t>DEMO</a:t>
                      </a:r>
                    </a:p>
                  </a:txBody>
                  <a:tcPr marL="128016" marT="54864" anchor="ctr">
                    <a:solidFill>
                      <a:srgbClr val="3783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A1B1F"/>
                          </a:solidFill>
                          <a:latin typeface="Montserrat"/>
                        </a:rPr>
                        <a:t>Validate</a:t>
                      </a:r>
                    </a:p>
                  </a:txBody>
                  <a:tcPr marL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B1F"/>
                          </a:solidFill>
                          <a:latin typeface="Montserrat"/>
                        </a:rPr>
                        <a:t>Allow or deny</a:t>
                      </a:r>
                    </a:p>
                  </a:txBody>
                  <a:tcPr marL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B1F"/>
                          </a:solidFill>
                          <a:latin typeface="Montserrat"/>
                        </a:rPr>
                        <a:t>1 + 2</a:t>
                      </a:r>
                    </a:p>
                  </a:txBody>
                  <a:tcPr marL="12801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A1B1F"/>
                          </a:solidFill>
                          <a:latin typeface="Montserrat"/>
                        </a:rPr>
                        <a:t>Mutate</a:t>
                      </a:r>
                    </a:p>
                  </a:txBody>
                  <a:tcPr marL="128016" anchor="ctr"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B1F"/>
                          </a:solidFill>
                          <a:latin typeface="Montserrat"/>
                        </a:rPr>
                        <a:t>Change, then allow</a:t>
                      </a:r>
                    </a:p>
                  </a:txBody>
                  <a:tcPr marL="128016" anchor="ctr"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B1F"/>
                          </a:solidFill>
                          <a:latin typeface="Montserrat"/>
                        </a:rPr>
                        <a:t>3</a:t>
                      </a:r>
                    </a:p>
                  </a:txBody>
                  <a:tcPr marL="128016" anchor="ctr">
                    <a:solidFill>
                      <a:srgbClr val="F6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749039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6F76"/>
                </a:solidFill>
                <a:latin typeface="Montserrat"/>
              </a:rPr>
              <a:t>Also exists: Generate — out of scope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2432304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MENTAL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RBAC vs Kyverno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385816" cy="2194560"/>
          </a:xfrm>
          <a:prstGeom prst="roundRect">
            <a:avLst>
              <a:gd name="adj" fmla="val 9000"/>
            </a:avLst>
          </a:prstGeom>
          <a:solidFill>
            <a:srgbClr val="F6F6F8"/>
          </a:solidFill>
          <a:ln w="9525">
            <a:solidFill>
              <a:srgbClr val="E4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385816" cy="82296"/>
          </a:xfrm>
          <a:prstGeom prst="roundRect">
            <a:avLst>
              <a:gd name="adj" fmla="val 9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2395728"/>
            <a:ext cx="49286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F4023"/>
                </a:solidFill>
                <a:latin typeface="Montserrat"/>
              </a:rPr>
              <a:t>RBAC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816352"/>
            <a:ext cx="4928616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A1B1F"/>
                </a:solidFill>
                <a:latin typeface="Montserrat"/>
              </a:rPr>
              <a:t>Who can create a Pod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2103120"/>
            <a:ext cx="5385816" cy="2194560"/>
          </a:xfrm>
          <a:prstGeom prst="roundRect">
            <a:avLst>
              <a:gd name="adj" fmla="val 9000"/>
            </a:avLst>
          </a:prstGeom>
          <a:solidFill>
            <a:srgbClr val="F6F6F8"/>
          </a:solidFill>
          <a:ln w="9525">
            <a:solidFill>
              <a:srgbClr val="E4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54496" y="2103120"/>
            <a:ext cx="5385816" cy="82296"/>
          </a:xfrm>
          <a:prstGeom prst="roundRect">
            <a:avLst>
              <a:gd name="adj" fmla="val 90000"/>
            </a:avLst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10528" y="2395728"/>
            <a:ext cx="49286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783C4"/>
                </a:solidFill>
                <a:latin typeface="Montserrat"/>
              </a:rPr>
              <a:t>KYVERNO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2816352"/>
            <a:ext cx="4928616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A1B1F"/>
                </a:solidFill>
                <a:latin typeface="Montserrat"/>
              </a:rPr>
              <a:t>What that Pod is allowed to look like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61772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B1F"/>
                </a:solidFill>
                <a:latin typeface="Montserrat"/>
              </a:rPr>
              <a:t>You need both.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2377440"/>
            <a:ext cx="1938528" cy="329184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300" b="1" spc="120">
                <a:solidFill>
                  <a:srgbClr val="FFFFFF"/>
                </a:solidFill>
                <a:latin typeface="Montserrat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8036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Montserrat"/>
              </a:rPr>
              <a:t>Install Kyverno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10058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2000" b="1" err="1">
                <a:solidFill>
                  <a:srgbClr val="B9BDC2"/>
                </a:solidFill>
                <a:latin typeface="Montserrat"/>
              </a:rPr>
              <a:t>Minikube</a:t>
            </a:r>
            <a:r>
              <a:rPr sz="2000" b="1" dirty="0">
                <a:solidFill>
                  <a:srgbClr val="B9BDC2"/>
                </a:solidFill>
                <a:latin typeface="Montserrat"/>
              </a:rPr>
              <a:t> + Helm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9BDC2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B9BDC2"/>
                </a:solidFill>
                <a:latin typeface="Montserrat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609344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INSTALL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What we’ll run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8778240" cy="2103120"/>
          </a:xfrm>
          <a:prstGeom prst="roundRect">
            <a:avLst>
              <a:gd name="adj" fmla="val 10000"/>
            </a:avLst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10896" tIns="164592" rIns="182880" bIns="164592" rtlCol="0" anchor="ctr"/>
          <a:lstStyle/>
          <a:p>
            <a:pPr algn="l">
              <a:lnSpc>
                <a:spcPct val="125000"/>
              </a:lnSpc>
            </a:pPr>
            <a:r>
              <a:rPr sz="1400">
                <a:solidFill>
                  <a:srgbClr val="E5EAF2"/>
                </a:solidFill>
                <a:latin typeface="Consolas"/>
              </a:rPr>
              <a:t>helm repo add kyverno https://kyverno.github.io/kyverno/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5EAF2"/>
                </a:solidFill>
                <a:latin typeface="Consolas"/>
              </a:rPr>
              <a:t>helm repo update</a:t>
            </a:r>
          </a:p>
          <a:p>
            <a:pPr algn="l">
              <a:lnSpc>
                <a:spcPct val="125000"/>
              </a:lnSpc>
            </a:pPr>
            <a:endParaRPr sz="1400">
              <a:solidFill>
                <a:srgbClr val="E5EAF2"/>
              </a:solidFill>
              <a:latin typeface="Consolas"/>
            </a:endParaRP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5EAF2"/>
                </a:solidFill>
                <a:latin typeface="Consolas"/>
              </a:rPr>
              <a:t>helm install kyverno kyverno/kyverno \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5EAF2"/>
                </a:solidFill>
                <a:latin typeface="Consolas"/>
              </a:rPr>
              <a:t>  -n kyverno --create-namespace --version 3.9.1 \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5EAF2"/>
                </a:solidFill>
                <a:latin typeface="Consolas"/>
              </a:rPr>
              <a:t>  --set admissionController.replicas=1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84832"/>
            <a:ext cx="54864" cy="1773936"/>
          </a:xfrm>
          <a:prstGeom prst="roundRect">
            <a:avLst>
              <a:gd name="adj" fmla="val 50000"/>
            </a:avLst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425196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A1B1F"/>
                </a:solidFill>
                <a:latin typeface="Montserrat"/>
              </a:rPr>
              <a:t>Then check pods + webhooks.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6344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6F76"/>
                </a:solidFill>
                <a:latin typeface="Montserrat"/>
              </a:rPr>
              <a:t>replicas=1 = laptop-friendly · prod uses more.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2432304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How it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7680960" cy="2743200"/>
          </a:xfrm>
          <a:prstGeom prst="roundRect">
            <a:avLst>
              <a:gd name="adj" fmla="val 10000"/>
            </a:avLst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10896" tIns="164592" rIns="182880" bIns="164592" rtlCol="0" anchor="ctr"/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E5EAF2"/>
                </a:solidFill>
                <a:latin typeface="Consolas"/>
              </a:rPr>
              <a:t>kubectl apply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E5EAF2"/>
                </a:solidFill>
                <a:latin typeface="Consolas"/>
              </a:rPr>
              <a:t>      ↓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E5EAF2"/>
                </a:solidFill>
                <a:latin typeface="Consolas"/>
              </a:rPr>
              <a:t>API server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E5EAF2"/>
                </a:solidFill>
                <a:latin typeface="Consolas"/>
              </a:rPr>
              <a:t>      ↓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E5EAF2"/>
                </a:solidFill>
                <a:latin typeface="Consolas"/>
              </a:rPr>
              <a:t>Kyverno webhook   ←  validate / mutate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E5EAF2"/>
                </a:solidFill>
                <a:latin typeface="Consolas"/>
              </a:rPr>
              <a:t>      ↓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E5EAF2"/>
                </a:solidFill>
                <a:latin typeface="Consolas"/>
              </a:rPr>
              <a:t>etcd (saved)   or   DENY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84832"/>
            <a:ext cx="54864" cy="2414016"/>
          </a:xfrm>
          <a:prstGeom prst="roundRect">
            <a:avLst>
              <a:gd name="adj" fmla="val 50000"/>
            </a:avLst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48920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6B6F76"/>
                </a:solidFill>
                <a:latin typeface="Montserrat"/>
              </a:rPr>
              <a:t>Always confirm Kyverno pods are Ready before testing policies.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 rot="1080000">
            <a:off x="10911535" y="-457200"/>
            <a:ext cx="1737360" cy="1737360"/>
          </a:xfrm>
          <a:prstGeom prst="roundRect">
            <a:avLst>
              <a:gd name="adj" fmla="val 22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2377440"/>
            <a:ext cx="1938528" cy="329184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300" b="1" spc="120">
                <a:solidFill>
                  <a:srgbClr val="FFFFFF"/>
                </a:solidFill>
                <a:latin typeface="Montserrat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8036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Montserrat"/>
              </a:rPr>
              <a:t>Demo 1 — Validate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9BDC2"/>
                </a:solidFill>
                <a:latin typeface="Montserrat"/>
              </a:rPr>
              <a:t>Require app label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9BDC2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B9BDC2"/>
                </a:solidFill>
                <a:latin typeface="Montserra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4572000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DEMO 1 · POLICY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Require app label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6420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6B6F76"/>
                </a:solidFill>
                <a:latin typeface="Consolas"/>
              </a:rPr>
              <a:t>policies/01-require-labels.yaml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309360" cy="3730752"/>
          </a:xfrm>
          <a:prstGeom prst="roundRect">
            <a:avLst>
              <a:gd name="adj" fmla="val 5000"/>
            </a:avLst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2148840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kind: ClusterPolicy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95728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spec: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670048"/>
            <a:ext cx="45720" cy="192024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2642616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F4023"/>
                </a:solidFill>
                <a:latin typeface="Consolas"/>
              </a:rPr>
              <a:t>  validationFailureAction: Enforce</a:t>
            </a:r>
          </a:p>
        </p:txBody>
      </p:sp>
      <p:sp>
        <p:nvSpPr>
          <p:cNvPr id="11" name="Oval 10"/>
          <p:cNvSpPr/>
          <p:nvPr/>
        </p:nvSpPr>
        <p:spPr>
          <a:xfrm>
            <a:off x="6455664" y="2628900"/>
            <a:ext cx="274320" cy="274320"/>
          </a:xfrm>
          <a:prstGeom prst="ellipse">
            <a:avLst/>
          </a:prstGeom>
          <a:solidFill>
            <a:srgbClr val="EF4023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889504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rules: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136392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- name: check-app-label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" y="3410712"/>
            <a:ext cx="45720" cy="192024"/>
          </a:xfrm>
          <a:prstGeom prst="roundRect">
            <a:avLst>
              <a:gd name="adj" fmla="val 50000"/>
            </a:avLst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3383280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3783C4"/>
                </a:solidFill>
                <a:latin typeface="Consolas"/>
              </a:rPr>
              <a:t>      match:</a:t>
            </a:r>
          </a:p>
        </p:txBody>
      </p:sp>
      <p:sp>
        <p:nvSpPr>
          <p:cNvPr id="16" name="Oval 15"/>
          <p:cNvSpPr/>
          <p:nvPr/>
        </p:nvSpPr>
        <p:spPr>
          <a:xfrm>
            <a:off x="6455664" y="3369564"/>
            <a:ext cx="274320" cy="274320"/>
          </a:xfrm>
          <a:prstGeom prst="ellipse">
            <a:avLst/>
          </a:prstGeom>
          <a:solidFill>
            <a:srgbClr val="3783C4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630168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  any: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877056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    - resources: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123944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        kinds: [Pod]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370832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validate: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" y="4645152"/>
            <a:ext cx="45720" cy="192024"/>
          </a:xfrm>
          <a:prstGeom prst="roundRect">
            <a:avLst>
              <a:gd name="adj" fmla="val 50000"/>
            </a:avLst>
          </a:prstGeom>
          <a:solidFill>
            <a:srgbClr val="E77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" y="4617720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77E5B"/>
                </a:solidFill>
                <a:latin typeface="Consolas"/>
              </a:rPr>
              <a:t>        pattern:</a:t>
            </a:r>
          </a:p>
        </p:txBody>
      </p:sp>
      <p:sp>
        <p:nvSpPr>
          <p:cNvPr id="23" name="Oval 22"/>
          <p:cNvSpPr/>
          <p:nvPr/>
        </p:nvSpPr>
        <p:spPr>
          <a:xfrm>
            <a:off x="6455664" y="4604004"/>
            <a:ext cx="274320" cy="274320"/>
          </a:xfrm>
          <a:prstGeom prst="ellipse">
            <a:avLst/>
          </a:prstGeom>
          <a:solidFill>
            <a:srgbClr val="E77E5B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4864608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    metadata: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5111496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      labels: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5358384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        app: "?*"</a:t>
            </a:r>
          </a:p>
        </p:txBody>
      </p:sp>
      <p:sp>
        <p:nvSpPr>
          <p:cNvPr id="27" name="Oval 26"/>
          <p:cNvSpPr/>
          <p:nvPr/>
        </p:nvSpPr>
        <p:spPr>
          <a:xfrm>
            <a:off x="7178040" y="2011680"/>
            <a:ext cx="384048" cy="384048"/>
          </a:xfrm>
          <a:prstGeom prst="ellipse">
            <a:avLst/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1993392"/>
            <a:ext cx="38953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783C4"/>
                </a:solidFill>
                <a:latin typeface="Montserrat"/>
              </a:rPr>
              <a:t>MATCH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3256" y="2304288"/>
            <a:ext cx="389534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B1F"/>
                </a:solidFill>
                <a:latin typeface="Montserrat"/>
              </a:rPr>
              <a:t>Applies this rule to every Pod.</a:t>
            </a:r>
          </a:p>
        </p:txBody>
      </p:sp>
      <p:sp>
        <p:nvSpPr>
          <p:cNvPr id="30" name="Oval 29"/>
          <p:cNvSpPr/>
          <p:nvPr/>
        </p:nvSpPr>
        <p:spPr>
          <a:xfrm>
            <a:off x="7178040" y="3017520"/>
            <a:ext cx="384048" cy="384048"/>
          </a:xfrm>
          <a:prstGeom prst="ellipse">
            <a:avLst/>
          </a:prstGeom>
          <a:solidFill>
            <a:srgbClr val="E77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63256" y="2999232"/>
            <a:ext cx="38953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77E5B"/>
                </a:solidFill>
                <a:latin typeface="Montserrat"/>
              </a:rPr>
              <a:t>PATTERN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3310128"/>
            <a:ext cx="389534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B1F"/>
                </a:solidFill>
                <a:latin typeface="Montserrat"/>
              </a:rPr>
              <a:t>The Pod must look like this. "?*" = the app label must exist and not be empty.</a:t>
            </a:r>
          </a:p>
        </p:txBody>
      </p:sp>
      <p:sp>
        <p:nvSpPr>
          <p:cNvPr id="33" name="Oval 32"/>
          <p:cNvSpPr/>
          <p:nvPr/>
        </p:nvSpPr>
        <p:spPr>
          <a:xfrm>
            <a:off x="7178040" y="4023360"/>
            <a:ext cx="384048" cy="384048"/>
          </a:xfrm>
          <a:prstGeom prst="ellipse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3256" y="4005072"/>
            <a:ext cx="38953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F4023"/>
                </a:solidFill>
                <a:latin typeface="Montserrat"/>
              </a:rPr>
              <a:t>VALIDATIONFAILUREACTION: ENFORCE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256" y="4315968"/>
            <a:ext cx="3895344" cy="7257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br>
              <a:rPr lang="en-US" sz="1400" dirty="0">
                <a:solidFill>
                  <a:srgbClr val="1A1B1F"/>
                </a:solidFill>
                <a:latin typeface="Montserrat"/>
              </a:rPr>
            </a:br>
            <a:r>
              <a:rPr sz="1400" b="0" i="0">
                <a:solidFill>
                  <a:srgbClr val="1A1B1F"/>
                </a:solidFill>
                <a:latin typeface="Montserrat"/>
              </a:rPr>
              <a:t>Enforce blocks the request. Audit would only report it.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444752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Require app label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1">
                <a:solidFill>
                  <a:srgbClr val="6B6F76"/>
                </a:solidFill>
                <a:latin typeface="Montserrat"/>
              </a:rPr>
              <a:t>Story: every workload needs a simple owner key.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9144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match Pods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90088"/>
            <a:ext cx="9144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app label must exist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65576"/>
            <a:ext cx="9144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Enforce = actually block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6B6F76"/>
                </a:solidFill>
                <a:latin typeface="Montserrat"/>
              </a:rPr>
              <a:t>Expect:   </a:t>
            </a:r>
            <a:r>
              <a:rPr sz="1700" b="1">
                <a:solidFill>
                  <a:srgbClr val="D64545"/>
                </a:solidFill>
                <a:latin typeface="Montserrat"/>
              </a:rPr>
              <a:t>missing label → DENY</a:t>
            </a:r>
            <a:r>
              <a:rPr sz="1700" b="0">
                <a:solidFill>
                  <a:srgbClr val="6B6F76"/>
                </a:solidFill>
                <a:latin typeface="Montserrat"/>
              </a:rPr>
              <a:t>    ·    </a:t>
            </a:r>
            <a:r>
              <a:rPr sz="1700" b="1">
                <a:solidFill>
                  <a:srgbClr val="1F8A5B"/>
                </a:solidFill>
                <a:latin typeface="Montserrat"/>
              </a:rPr>
              <a:t>with app → ALLOW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2761488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PRODUCTION 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Audit vs Enforce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65960"/>
          <a:ext cx="7772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 spc="100">
                          <a:solidFill>
                            <a:srgbClr val="FFFFFF"/>
                          </a:solidFill>
                          <a:latin typeface="Montserrat"/>
                        </a:rPr>
                        <a:t>VALIDATIONFAILUREACTION</a:t>
                      </a:r>
                    </a:p>
                  </a:txBody>
                  <a:tcPr marL="128016" marT="54864" anchor="ctr">
                    <a:solidFill>
                      <a:srgbClr val="EF40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spc="100">
                          <a:solidFill>
                            <a:srgbClr val="FFFFFF"/>
                          </a:solidFill>
                          <a:latin typeface="Montserrat"/>
                        </a:rPr>
                        <a:t>BEHAVIOR</a:t>
                      </a:r>
                    </a:p>
                  </a:txBody>
                  <a:tcPr marL="128016" marT="54864" anchor="ctr">
                    <a:solidFill>
                      <a:srgbClr val="EF40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A1B1F"/>
                          </a:solidFill>
                          <a:latin typeface="Montserrat"/>
                        </a:rPr>
                        <a:t>Audit</a:t>
                      </a:r>
                    </a:p>
                  </a:txBody>
                  <a:tcPr marL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B1F"/>
                          </a:solidFill>
                          <a:latin typeface="Montserrat"/>
                        </a:rPr>
                        <a:t>Report violations, allow create</a:t>
                      </a:r>
                    </a:p>
                  </a:txBody>
                  <a:tcPr marL="12801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A1B1F"/>
                          </a:solidFill>
                          <a:latin typeface="Montserrat"/>
                        </a:rPr>
                        <a:t>Enforce</a:t>
                      </a:r>
                    </a:p>
                  </a:txBody>
                  <a:tcPr marL="128016" anchor="ctr"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B1F"/>
                          </a:solidFill>
                          <a:latin typeface="Montserrat"/>
                        </a:rPr>
                        <a:t>Block the request</a:t>
                      </a:r>
                    </a:p>
                  </a:txBody>
                  <a:tcPr marL="128016" anchor="ctr">
                    <a:solidFill>
                      <a:srgbClr val="F6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749039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A1B1F"/>
                </a:solidFill>
                <a:latin typeface="Montserrat"/>
              </a:rPr>
              <a:t>Real clusters: start Audit → fix → then Enforce.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605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6F76"/>
                </a:solidFill>
                <a:latin typeface="Montserrat"/>
              </a:rPr>
              <a:t>Today we use Enforce so the block is obvious.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 rot="1080000">
            <a:off x="10911535" y="-457200"/>
            <a:ext cx="1737360" cy="1737360"/>
          </a:xfrm>
          <a:prstGeom prst="roundRect">
            <a:avLst>
              <a:gd name="adj" fmla="val 22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2377440"/>
            <a:ext cx="1938528" cy="329184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300" b="1" spc="120">
                <a:solidFill>
                  <a:srgbClr val="FFFFFF"/>
                </a:solidFill>
                <a:latin typeface="Montserrat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8036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Montserrat"/>
              </a:rPr>
              <a:t>Demo 2 — Validate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9BDC2"/>
                </a:solidFill>
                <a:latin typeface="Montserrat"/>
              </a:rPr>
              <a:t>Disallow :latest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9BDC2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B9BDC2"/>
                </a:solidFill>
                <a:latin typeface="Montserrat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4572000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DEMO 2 · POLICY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Disallow :latest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6420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6B6F76"/>
                </a:solidFill>
                <a:latin typeface="Consolas"/>
              </a:rPr>
              <a:t>policies/02-disallow-latest.yaml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309360" cy="3730752"/>
          </a:xfrm>
          <a:prstGeom prst="roundRect">
            <a:avLst>
              <a:gd name="adj" fmla="val 5000"/>
            </a:avLst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2148840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kind: ClusterPolicy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95728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spec: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670048"/>
            <a:ext cx="45720" cy="192024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2642616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F4023"/>
                </a:solidFill>
                <a:latin typeface="Consolas"/>
              </a:rPr>
              <a:t>  validationFailureAction: Enforce</a:t>
            </a:r>
          </a:p>
        </p:txBody>
      </p:sp>
      <p:sp>
        <p:nvSpPr>
          <p:cNvPr id="11" name="Oval 10"/>
          <p:cNvSpPr/>
          <p:nvPr/>
        </p:nvSpPr>
        <p:spPr>
          <a:xfrm>
            <a:off x="6455664" y="2628900"/>
            <a:ext cx="274320" cy="274320"/>
          </a:xfrm>
          <a:prstGeom prst="ellipse">
            <a:avLst/>
          </a:prstGeom>
          <a:solidFill>
            <a:srgbClr val="EF4023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889504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rules: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136392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- name: require-image-tag-not-latest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" y="3410712"/>
            <a:ext cx="45720" cy="192024"/>
          </a:xfrm>
          <a:prstGeom prst="roundRect">
            <a:avLst>
              <a:gd name="adj" fmla="val 50000"/>
            </a:avLst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3383280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3783C4"/>
                </a:solidFill>
                <a:latin typeface="Consolas"/>
              </a:rPr>
              <a:t>      match:</a:t>
            </a:r>
          </a:p>
        </p:txBody>
      </p:sp>
      <p:sp>
        <p:nvSpPr>
          <p:cNvPr id="16" name="Oval 15"/>
          <p:cNvSpPr/>
          <p:nvPr/>
        </p:nvSpPr>
        <p:spPr>
          <a:xfrm>
            <a:off x="6455664" y="3369564"/>
            <a:ext cx="274320" cy="274320"/>
          </a:xfrm>
          <a:prstGeom prst="ellipse">
            <a:avLst/>
          </a:prstGeom>
          <a:solidFill>
            <a:srgbClr val="3783C4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630168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  any: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877056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    - resources: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123944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        kinds: [Pod]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370832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validate: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" y="4645152"/>
            <a:ext cx="45720" cy="192024"/>
          </a:xfrm>
          <a:prstGeom prst="roundRect">
            <a:avLst>
              <a:gd name="adj" fmla="val 50000"/>
            </a:avLst>
          </a:prstGeom>
          <a:solidFill>
            <a:srgbClr val="E77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" y="4617720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77E5B"/>
                </a:solidFill>
                <a:latin typeface="Consolas"/>
              </a:rPr>
              <a:t>        pattern:</a:t>
            </a:r>
          </a:p>
        </p:txBody>
      </p:sp>
      <p:sp>
        <p:nvSpPr>
          <p:cNvPr id="23" name="Oval 22"/>
          <p:cNvSpPr/>
          <p:nvPr/>
        </p:nvSpPr>
        <p:spPr>
          <a:xfrm>
            <a:off x="6455664" y="4604004"/>
            <a:ext cx="274320" cy="274320"/>
          </a:xfrm>
          <a:prstGeom prst="ellipse">
            <a:avLst/>
          </a:prstGeom>
          <a:solidFill>
            <a:srgbClr val="E77E5B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4864608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    spec: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5111496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      containers: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5358384"/>
            <a:ext cx="55321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        - image: "*:* &amp; !*:latest"</a:t>
            </a:r>
          </a:p>
        </p:txBody>
      </p:sp>
      <p:sp>
        <p:nvSpPr>
          <p:cNvPr id="27" name="Oval 26"/>
          <p:cNvSpPr/>
          <p:nvPr/>
        </p:nvSpPr>
        <p:spPr>
          <a:xfrm>
            <a:off x="7178040" y="2011680"/>
            <a:ext cx="384048" cy="384048"/>
          </a:xfrm>
          <a:prstGeom prst="ellipse">
            <a:avLst/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1993392"/>
            <a:ext cx="38953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783C4"/>
                </a:solidFill>
                <a:latin typeface="Montserrat"/>
              </a:rPr>
              <a:t>MATCH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3256" y="2304288"/>
            <a:ext cx="389534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B1F"/>
                </a:solidFill>
                <a:latin typeface="Montserrat"/>
              </a:rPr>
              <a:t>Same targeting as Demo 1 — every Pod.</a:t>
            </a:r>
          </a:p>
        </p:txBody>
      </p:sp>
      <p:sp>
        <p:nvSpPr>
          <p:cNvPr id="30" name="Oval 29"/>
          <p:cNvSpPr/>
          <p:nvPr/>
        </p:nvSpPr>
        <p:spPr>
          <a:xfrm>
            <a:off x="7178040" y="3017520"/>
            <a:ext cx="384048" cy="384048"/>
          </a:xfrm>
          <a:prstGeom prst="ellipse">
            <a:avLst/>
          </a:prstGeom>
          <a:solidFill>
            <a:srgbClr val="E77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63256" y="2999232"/>
            <a:ext cx="38953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77E5B"/>
                </a:solidFill>
                <a:latin typeface="Montserrat"/>
              </a:rPr>
              <a:t>PATTERN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3310128"/>
            <a:ext cx="389534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B1F"/>
                </a:solidFill>
                <a:latin typeface="Montserrat"/>
              </a:rPr>
              <a:t>"*:*" = image must have a tag. "!*:latest" = and it can’t be latest.</a:t>
            </a:r>
          </a:p>
        </p:txBody>
      </p:sp>
      <p:sp>
        <p:nvSpPr>
          <p:cNvPr id="33" name="Oval 32"/>
          <p:cNvSpPr/>
          <p:nvPr/>
        </p:nvSpPr>
        <p:spPr>
          <a:xfrm>
            <a:off x="7178040" y="4023360"/>
            <a:ext cx="384048" cy="384048"/>
          </a:xfrm>
          <a:prstGeom prst="ellipse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3256" y="4005072"/>
            <a:ext cx="38953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F4023"/>
                </a:solidFill>
                <a:latin typeface="Montserrat"/>
              </a:rPr>
              <a:t>VALIDATIONFAILUREACTION: ENFORCE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256" y="4315968"/>
            <a:ext cx="3895344" cy="728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endParaRPr lang="en-US" sz="1400" dirty="0">
              <a:solidFill>
                <a:srgbClr val="1A1B1F"/>
              </a:solidFill>
              <a:latin typeface="Montserrat"/>
            </a:endParaRPr>
          </a:p>
          <a:p>
            <a:pPr algn="l">
              <a:lnSpc>
                <a:spcPct val="114999"/>
              </a:lnSpc>
            </a:pPr>
            <a:r>
              <a:rPr sz="1400" b="0" i="0">
                <a:solidFill>
                  <a:srgbClr val="1A1B1F"/>
                </a:solidFill>
                <a:latin typeface="Montserrat"/>
              </a:rPr>
              <a:t>Same Enforce mode — the request is rejected, not just reported.</a:t>
            </a:r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444752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Disallow :latest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1">
                <a:solidFill>
                  <a:srgbClr val="6B6F76"/>
                </a:solidFill>
                <a:latin typeface="Montserrat"/>
              </a:rPr>
              <a:t>Story: :latest is not reproducible.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9144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image must have a tag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90088"/>
            <a:ext cx="9144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tag must not be :latest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6B6F76"/>
                </a:solidFill>
                <a:latin typeface="Montserrat"/>
              </a:rPr>
              <a:t>Expect:   </a:t>
            </a:r>
            <a:r>
              <a:rPr sz="1700" b="1">
                <a:solidFill>
                  <a:srgbClr val="D64545"/>
                </a:solidFill>
                <a:latin typeface="Montserrat"/>
              </a:rPr>
              <a:t>nginx:latest → DENY</a:t>
            </a:r>
            <a:r>
              <a:rPr sz="1700" b="0">
                <a:solidFill>
                  <a:srgbClr val="6B6F76"/>
                </a:solidFill>
                <a:latin typeface="Montserrat"/>
              </a:rPr>
              <a:t>    ·    </a:t>
            </a:r>
            <a:r>
              <a:rPr sz="1700" b="1">
                <a:solidFill>
                  <a:srgbClr val="1F8A5B"/>
                </a:solidFill>
                <a:latin typeface="Montserrat"/>
              </a:rPr>
              <a:t>nginx:1.27 → ALLOW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6B6F76"/>
                </a:solidFill>
                <a:latin typeface="Montserrat"/>
              </a:rPr>
              <a:t>Policies stack — they work together.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2377440"/>
            <a:ext cx="1938528" cy="329184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300" b="1" spc="120">
                <a:solidFill>
                  <a:srgbClr val="FFFFFF"/>
                </a:solidFill>
                <a:latin typeface="Montserrat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8036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Montserrat"/>
              </a:rPr>
              <a:t>Demo 3 — Mutate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9BDC2"/>
                </a:solidFill>
                <a:latin typeface="Montserrat"/>
              </a:rPr>
              <a:t>Add default resources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9BDC2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B9BDC2"/>
                </a:solidFill>
                <a:latin typeface="Montserrat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4572000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DEMO 3 · POLICY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Mutate — default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6420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6B6F76"/>
                </a:solidFill>
                <a:latin typeface="Consolas"/>
              </a:rPr>
              <a:t>policies/03-add-default-resources.yaml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309360" cy="4389120"/>
          </a:xfrm>
          <a:prstGeom prst="roundRect">
            <a:avLst>
              <a:gd name="adj" fmla="val 5000"/>
            </a:avLst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76272"/>
            <a:ext cx="45720" cy="150876"/>
          </a:xfrm>
          <a:prstGeom prst="roundRect">
            <a:avLst>
              <a:gd name="adj" fmla="val 50000"/>
            </a:avLst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2148840"/>
            <a:ext cx="5532120" cy="2057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3783C4"/>
                </a:solidFill>
                <a:latin typeface="Consolas"/>
              </a:rPr>
              <a:t>match:</a:t>
            </a:r>
          </a:p>
        </p:txBody>
      </p:sp>
      <p:sp>
        <p:nvSpPr>
          <p:cNvPr id="9" name="Oval 8"/>
          <p:cNvSpPr/>
          <p:nvPr/>
        </p:nvSpPr>
        <p:spPr>
          <a:xfrm>
            <a:off x="6455664" y="2114550"/>
            <a:ext cx="274320" cy="274320"/>
          </a:xfrm>
          <a:prstGeom prst="ellipse">
            <a:avLst/>
          </a:prstGeom>
          <a:solidFill>
            <a:srgbClr val="3783C4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54580"/>
            <a:ext cx="5532120" cy="2057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any: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60320"/>
            <a:ext cx="5532120" cy="2057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- resources: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766060"/>
            <a:ext cx="5532120" cy="2057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    kinds: [Pod]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971800"/>
            <a:ext cx="5532120" cy="2057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    operations: [CREATE]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" y="3204972"/>
            <a:ext cx="45720" cy="150876"/>
          </a:xfrm>
          <a:prstGeom prst="roundRect">
            <a:avLst>
              <a:gd name="adj" fmla="val 50000"/>
            </a:avLst>
          </a:prstGeom>
          <a:solidFill>
            <a:srgbClr val="E77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3177540"/>
            <a:ext cx="5532120" cy="2057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77E5B"/>
                </a:solidFill>
                <a:latin typeface="Consolas"/>
              </a:rPr>
              <a:t>preconditions:</a:t>
            </a:r>
          </a:p>
        </p:txBody>
      </p:sp>
      <p:sp>
        <p:nvSpPr>
          <p:cNvPr id="16" name="Oval 15"/>
          <p:cNvSpPr/>
          <p:nvPr/>
        </p:nvSpPr>
        <p:spPr>
          <a:xfrm>
            <a:off x="6455664" y="3143250"/>
            <a:ext cx="274320" cy="274320"/>
          </a:xfrm>
          <a:prstGeom prst="ellipse">
            <a:avLst/>
          </a:prstGeom>
          <a:solidFill>
            <a:srgbClr val="E77E5B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383280"/>
            <a:ext cx="5532120" cy="2057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all: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589020"/>
            <a:ext cx="5532120" cy="2057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- key: &gt;-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794760"/>
            <a:ext cx="5532120" cy="2057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    {{ request.object.spec.containers[?resources.requests ||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000500"/>
            <a:ext cx="5532120" cy="2057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    resources.limits] | length(@) 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206240"/>
            <a:ext cx="5532120" cy="2057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  operator: Equals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4411980"/>
            <a:ext cx="5532120" cy="2057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  value: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617720"/>
            <a:ext cx="5532120" cy="2057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mutate: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" y="4850892"/>
            <a:ext cx="45720" cy="150876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1248" y="4823460"/>
            <a:ext cx="5532120" cy="2057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F4023"/>
                </a:solidFill>
                <a:latin typeface="Consolas"/>
              </a:rPr>
              <a:t>  patchStrategicMerge:</a:t>
            </a:r>
          </a:p>
        </p:txBody>
      </p:sp>
      <p:sp>
        <p:nvSpPr>
          <p:cNvPr id="26" name="Oval 25"/>
          <p:cNvSpPr/>
          <p:nvPr/>
        </p:nvSpPr>
        <p:spPr>
          <a:xfrm>
            <a:off x="6455664" y="4789170"/>
            <a:ext cx="274320" cy="274320"/>
          </a:xfrm>
          <a:prstGeom prst="ellipse">
            <a:avLst/>
          </a:prstGeom>
          <a:solidFill>
            <a:srgbClr val="EF4023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029200"/>
            <a:ext cx="5532120" cy="2057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spec: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5234940"/>
            <a:ext cx="5532120" cy="2057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  containers: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5440680"/>
            <a:ext cx="5532120" cy="2057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    - (name): "*"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5646420"/>
            <a:ext cx="5532120" cy="2057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      resources: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5852160"/>
            <a:ext cx="5532120" cy="2057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        requests: {memory: 64Mi, cpu: 50m}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057900"/>
            <a:ext cx="5532120" cy="2057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        limits: {memory: 128Mi}</a:t>
            </a:r>
          </a:p>
        </p:txBody>
      </p:sp>
      <p:sp>
        <p:nvSpPr>
          <p:cNvPr id="33" name="Oval 32"/>
          <p:cNvSpPr/>
          <p:nvPr/>
        </p:nvSpPr>
        <p:spPr>
          <a:xfrm>
            <a:off x="7178040" y="2011680"/>
            <a:ext cx="384048" cy="384048"/>
          </a:xfrm>
          <a:prstGeom prst="ellipse">
            <a:avLst/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3256" y="1993392"/>
            <a:ext cx="38953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783C4"/>
                </a:solidFill>
                <a:latin typeface="Montserrat"/>
              </a:rPr>
              <a:t>MATCH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256" y="2304288"/>
            <a:ext cx="389534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B1F"/>
                </a:solidFill>
                <a:latin typeface="Montserrat"/>
              </a:rPr>
              <a:t>New Pods only (CREATE) — running Pods are never changed.</a:t>
            </a:r>
          </a:p>
        </p:txBody>
      </p:sp>
      <p:sp>
        <p:nvSpPr>
          <p:cNvPr id="36" name="Oval 35"/>
          <p:cNvSpPr/>
          <p:nvPr/>
        </p:nvSpPr>
        <p:spPr>
          <a:xfrm>
            <a:off x="7178040" y="3017520"/>
            <a:ext cx="384048" cy="384048"/>
          </a:xfrm>
          <a:prstGeom prst="ellipse">
            <a:avLst/>
          </a:prstGeom>
          <a:solidFill>
            <a:srgbClr val="E77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3256" y="2999232"/>
            <a:ext cx="38953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77E5B"/>
                </a:solidFill>
                <a:latin typeface="Montserrat"/>
              </a:rPr>
              <a:t>PRECONDITIONS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3256" y="3310128"/>
            <a:ext cx="389534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B1F"/>
                </a:solidFill>
                <a:latin typeface="Montserrat"/>
              </a:rPr>
              <a:t>Count containers that already set requests or limits. Only mutate if that count is 0.</a:t>
            </a:r>
          </a:p>
        </p:txBody>
      </p:sp>
      <p:sp>
        <p:nvSpPr>
          <p:cNvPr id="39" name="Oval 38"/>
          <p:cNvSpPr/>
          <p:nvPr/>
        </p:nvSpPr>
        <p:spPr>
          <a:xfrm>
            <a:off x="7178040" y="4023360"/>
            <a:ext cx="384048" cy="384048"/>
          </a:xfrm>
          <a:prstGeom prst="ellipse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4005072"/>
            <a:ext cx="38953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F4023"/>
                </a:solidFill>
                <a:latin typeface="Montserrat"/>
              </a:rPr>
              <a:t>PATCHSTRATEGICMERGE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63256" y="4315968"/>
            <a:ext cx="389534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B1F"/>
                </a:solidFill>
                <a:latin typeface="Montserrat"/>
              </a:rPr>
              <a:t>Add default requests + limit to every container. (name): "*" = any container.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444752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DEMO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Mutate — default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1">
                <a:solidFill>
                  <a:srgbClr val="6B6F76"/>
                </a:solidFill>
                <a:latin typeface="Montserrat"/>
              </a:rPr>
              <a:t>Story: Pods without requests confuse the scheduler — fill in safe defaults.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3160"/>
            <a:ext cx="10515600" cy="1188720"/>
          </a:xfrm>
          <a:prstGeom prst="roundRect">
            <a:avLst>
              <a:gd name="adj" fmla="val 10000"/>
            </a:avLst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10896" tIns="164592" rIns="182880" bIns="164592" rtlCol="0" anchor="ctr"/>
          <a:lstStyle/>
          <a:p>
            <a:pPr algn="l">
              <a:lnSpc>
                <a:spcPct val="125000"/>
              </a:lnSpc>
            </a:pPr>
            <a:r>
              <a:rPr sz="1400">
                <a:solidFill>
                  <a:srgbClr val="E5EAF2"/>
                </a:solidFill>
                <a:latin typeface="Consolas"/>
              </a:rPr>
              <a:t>mutate-demo       {"limits":{"memory":"128Mi"},"requests":{"cpu":"50m","memory":"64Mi"}}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5EAF2"/>
                </a:solidFill>
                <a:latin typeface="Consolas"/>
              </a:rPr>
              <a:t>custom-resources  {"requests":{"cpu":"100m","memory":"256Mi"}}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587752"/>
            <a:ext cx="54864" cy="859536"/>
          </a:xfrm>
          <a:prstGeom prst="roundRect">
            <a:avLst>
              <a:gd name="adj" fmla="val 50000"/>
            </a:avLst>
          </a:prstGeom>
          <a:solidFill>
            <a:srgbClr val="E77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3886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6B6F76"/>
                </a:solidFill>
                <a:latin typeface="Montserrat"/>
              </a:rPr>
              <a:t>Expect:   </a:t>
            </a:r>
            <a:r>
              <a:rPr sz="1700" b="1">
                <a:solidFill>
                  <a:srgbClr val="E77E5B"/>
                </a:solidFill>
                <a:latin typeface="Montserrat"/>
              </a:rPr>
              <a:t>no resources → defaults added</a:t>
            </a:r>
            <a:r>
              <a:rPr sz="1700" b="0">
                <a:solidFill>
                  <a:srgbClr val="6B6F76"/>
                </a:solidFill>
                <a:latin typeface="Montserrat"/>
              </a:rPr>
              <a:t>    ·    </a:t>
            </a:r>
            <a:r>
              <a:rPr sz="1700" b="1">
                <a:solidFill>
                  <a:srgbClr val="1F8A5B"/>
                </a:solidFill>
                <a:latin typeface="Montserrat"/>
              </a:rPr>
              <a:t>own resources → untouched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805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6B6F76"/>
                </a:solidFill>
                <a:latin typeface="Montserrat"/>
              </a:rPr>
              <a:t>Teams that set their own values are never overridden.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Validate vs Mutate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385816" cy="1828800"/>
          </a:xfrm>
          <a:prstGeom prst="roundRect">
            <a:avLst>
              <a:gd name="adj" fmla="val 9000"/>
            </a:avLst>
          </a:prstGeom>
          <a:solidFill>
            <a:srgbClr val="F6F6F8"/>
          </a:solidFill>
          <a:ln w="9525">
            <a:solidFill>
              <a:srgbClr val="E4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385816" cy="82296"/>
          </a:xfrm>
          <a:prstGeom prst="roundRect">
            <a:avLst>
              <a:gd name="adj" fmla="val 90000"/>
            </a:avLst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2395728"/>
            <a:ext cx="49286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783C4"/>
                </a:solidFill>
                <a:latin typeface="Montserrat"/>
              </a:rPr>
              <a:t>VALIDATE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816352"/>
            <a:ext cx="492861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A1B1F"/>
                </a:solidFill>
                <a:latin typeface="Montserrat"/>
              </a:rPr>
              <a:t>Allow or deny the request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2103120"/>
            <a:ext cx="5385816" cy="1828800"/>
          </a:xfrm>
          <a:prstGeom prst="roundRect">
            <a:avLst>
              <a:gd name="adj" fmla="val 9000"/>
            </a:avLst>
          </a:prstGeom>
          <a:solidFill>
            <a:srgbClr val="F6F6F8"/>
          </a:solidFill>
          <a:ln w="9525">
            <a:solidFill>
              <a:srgbClr val="E4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54496" y="2103120"/>
            <a:ext cx="5385816" cy="82296"/>
          </a:xfrm>
          <a:prstGeom prst="roundRect">
            <a:avLst>
              <a:gd name="adj" fmla="val 90000"/>
            </a:avLst>
          </a:prstGeom>
          <a:solidFill>
            <a:srgbClr val="E77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10528" y="2395728"/>
            <a:ext cx="49286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77E5B"/>
                </a:solidFill>
                <a:latin typeface="Montserrat"/>
              </a:rPr>
              <a:t>MUTATE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2816352"/>
            <a:ext cx="492861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A1B1F"/>
                </a:solidFill>
                <a:latin typeface="Montserrat"/>
              </a:rPr>
              <a:t>Change the object, then allow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A1B1F"/>
                </a:solidFill>
                <a:latin typeface="Montserrat"/>
              </a:rPr>
              <a:t>Mutation happens in admission — what lands in the cluster already includes the change.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Ops tips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11091672" cy="4206240"/>
          </a:xfrm>
          <a:prstGeom prst="roundRect">
            <a:avLst>
              <a:gd name="adj" fmla="val 5000"/>
            </a:avLst>
          </a:prstGeom>
          <a:solidFill>
            <a:srgbClr val="F6F6F8"/>
          </a:solidFill>
          <a:ln w="9525">
            <a:solidFill>
              <a:srgbClr val="E4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332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900" b="0">
                <a:solidFill>
                  <a:srgbClr val="1A1B1F"/>
                </a:solidFill>
                <a:latin typeface="Montserrat"/>
              </a:rPr>
              <a:t>Audit → Enforce in 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332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900" b="0">
                <a:solidFill>
                  <a:srgbClr val="1A1B1F"/>
                </a:solidFill>
                <a:latin typeface="Montserrat"/>
              </a:rPr>
              <a:t>Exclude kube-system / kyverno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74720"/>
            <a:ext cx="10332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900" b="0">
                <a:solidFill>
                  <a:srgbClr val="1A1B1F"/>
                </a:solidFill>
                <a:latin typeface="Montserrat"/>
              </a:rPr>
              <a:t>Store policies in Git (GitOps-friendly)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69080"/>
            <a:ext cx="10332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900" b="0">
                <a:solidFill>
                  <a:srgbClr val="1A1B1F"/>
                </a:solidFill>
                <a:latin typeface="Montserrat"/>
              </a:rPr>
              <a:t>Next level: generate NetPol, privileged blocks, image verify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2267712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WHAT’S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Heads-up: CEL-based policies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385816" cy="1737360"/>
          </a:xfrm>
          <a:prstGeom prst="roundRect">
            <a:avLst>
              <a:gd name="adj" fmla="val 9000"/>
            </a:avLst>
          </a:prstGeom>
          <a:solidFill>
            <a:srgbClr val="F6F6F8"/>
          </a:solidFill>
          <a:ln w="9525">
            <a:solidFill>
              <a:srgbClr val="E4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385816" cy="82296"/>
          </a:xfrm>
          <a:prstGeom prst="roundRect">
            <a:avLst>
              <a:gd name="adj" fmla="val 9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2212848"/>
            <a:ext cx="49286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F4023"/>
                </a:solidFill>
                <a:latin typeface="Montserrat"/>
              </a:rPr>
              <a:t>TODAY · CLUSTERPOLICY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33472"/>
            <a:ext cx="492861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A1B1F"/>
                </a:solidFill>
                <a:latin typeface="Montserrat"/>
              </a:rPr>
              <a:t>YAML patterns — deprecated in v1.19, removed in v1.20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1920240"/>
            <a:ext cx="5385816" cy="1737360"/>
          </a:xfrm>
          <a:prstGeom prst="roundRect">
            <a:avLst>
              <a:gd name="adj" fmla="val 9000"/>
            </a:avLst>
          </a:prstGeom>
          <a:solidFill>
            <a:srgbClr val="F6F6F8"/>
          </a:solidFill>
          <a:ln w="9525">
            <a:solidFill>
              <a:srgbClr val="E4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54496" y="1920240"/>
            <a:ext cx="5385816" cy="82296"/>
          </a:xfrm>
          <a:prstGeom prst="roundRect">
            <a:avLst>
              <a:gd name="adj" fmla="val 90000"/>
            </a:avLst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10528" y="2212848"/>
            <a:ext cx="49286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783C4"/>
                </a:solidFill>
                <a:latin typeface="Montserrat"/>
              </a:rPr>
              <a:t>NEXT · VALIDATINGPOLICY / MUTATINGPOLICY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2633472"/>
            <a:ext cx="492861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A1B1F"/>
                </a:solidFill>
                <a:latin typeface="Montserrat"/>
              </a:rPr>
              <a:t>Same ideas, rules written as short CEL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31920"/>
            <a:ext cx="10515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783C4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Same concepts carry over: match → rule → block or 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07408"/>
            <a:ext cx="10515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783C4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CEL is the expression language Kubernetes itself uses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82896"/>
            <a:ext cx="10515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783C4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Today we pinned chart 3.9.1 (Kyverno v1.19) so ClusterPolicy still 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3492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B1F"/>
                </a:solidFill>
                <a:latin typeface="Montserrat"/>
              </a:rPr>
              <a:t>Migration guide   </a:t>
            </a:r>
            <a:r>
              <a:rPr sz="1500" b="0">
                <a:solidFill>
                  <a:srgbClr val="6B6F76"/>
                </a:solidFill>
                <a:latin typeface="Montserrat"/>
              </a:rPr>
              <a:t>https://kyverno.io/docs/guides/migration-to-cel/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3913631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DEMO 1 · 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Same rule, two formats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F4023"/>
                </a:solidFill>
                <a:latin typeface="Montserrat"/>
              </a:rPr>
              <a:t>TODAY · YAML PATTERN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69164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783C4"/>
                </a:solidFill>
                <a:latin typeface="Montserrat"/>
              </a:rPr>
              <a:t>NEXT · CEL EXPRESSION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1">
                <a:solidFill>
                  <a:srgbClr val="6B6F76"/>
                </a:solidFill>
                <a:latin typeface="Consolas"/>
              </a:rPr>
              <a:t>policies/01-require-labels.yaml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5352" y="169164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1">
                <a:solidFill>
                  <a:srgbClr val="6B6F76"/>
                </a:solidFill>
                <a:latin typeface="Consolas"/>
              </a:rPr>
              <a:t>policies/cel/01-require-labels.yaml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5394960" cy="3483864"/>
          </a:xfrm>
          <a:prstGeom prst="roundRect">
            <a:avLst>
              <a:gd name="adj" fmla="val 5000"/>
            </a:avLst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2194560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kind: ClusterPolicy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441448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spec: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" y="2715768"/>
            <a:ext cx="45720" cy="192024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" y="2688336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F4023"/>
                </a:solidFill>
                <a:latin typeface="Consolas"/>
              </a:rPr>
              <a:t>  validationFailureAction: Enforce</a:t>
            </a:r>
          </a:p>
        </p:txBody>
      </p:sp>
      <p:sp>
        <p:nvSpPr>
          <p:cNvPr id="14" name="Oval 13"/>
          <p:cNvSpPr/>
          <p:nvPr/>
        </p:nvSpPr>
        <p:spPr>
          <a:xfrm>
            <a:off x="5541264" y="2674620"/>
            <a:ext cx="274320" cy="274320"/>
          </a:xfrm>
          <a:prstGeom prst="ellipse">
            <a:avLst/>
          </a:prstGeom>
          <a:solidFill>
            <a:srgbClr val="EF4023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2935224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rules: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6" y="3209544"/>
            <a:ext cx="45720" cy="192024"/>
          </a:xfrm>
          <a:prstGeom prst="roundRect">
            <a:avLst>
              <a:gd name="adj" fmla="val 50000"/>
            </a:avLst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8" y="3182112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783C4"/>
                </a:solidFill>
                <a:latin typeface="Consolas"/>
              </a:rPr>
              <a:t>    - match:</a:t>
            </a:r>
          </a:p>
        </p:txBody>
      </p:sp>
      <p:sp>
        <p:nvSpPr>
          <p:cNvPr id="18" name="Oval 17"/>
          <p:cNvSpPr/>
          <p:nvPr/>
        </p:nvSpPr>
        <p:spPr>
          <a:xfrm>
            <a:off x="5541264" y="3168396"/>
            <a:ext cx="274320" cy="274320"/>
          </a:xfrm>
          <a:prstGeom prst="ellipse">
            <a:avLst/>
          </a:prstGeom>
          <a:solidFill>
            <a:srgbClr val="3783C4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429000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    any: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675888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      - resources: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3922776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          kinds: [Pod]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4169664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  validate: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" y="4443984"/>
            <a:ext cx="45720" cy="192024"/>
          </a:xfrm>
          <a:prstGeom prst="roundRect">
            <a:avLst>
              <a:gd name="adj" fmla="val 50000"/>
            </a:avLst>
          </a:prstGeom>
          <a:solidFill>
            <a:srgbClr val="E77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1248" y="4416552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77E5B"/>
                </a:solidFill>
                <a:latin typeface="Consolas"/>
              </a:rPr>
              <a:t>        pattern:</a:t>
            </a:r>
          </a:p>
        </p:txBody>
      </p:sp>
      <p:sp>
        <p:nvSpPr>
          <p:cNvPr id="25" name="Oval 24"/>
          <p:cNvSpPr/>
          <p:nvPr/>
        </p:nvSpPr>
        <p:spPr>
          <a:xfrm>
            <a:off x="5541264" y="4402836"/>
            <a:ext cx="274320" cy="274320"/>
          </a:xfrm>
          <a:prstGeom prst="ellipse">
            <a:avLst/>
          </a:prstGeom>
          <a:solidFill>
            <a:srgbClr val="E77E5B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663440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      metadata: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910328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        labels: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5157216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          app: "?*"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2057400"/>
            <a:ext cx="5394960" cy="3483864"/>
          </a:xfrm>
          <a:prstGeom prst="roundRect">
            <a:avLst>
              <a:gd name="adj" fmla="val 5000"/>
            </a:avLst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37960" y="2194560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kind: ValidatingPolicy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2441448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spec: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73368" y="2715768"/>
            <a:ext cx="45720" cy="192024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37960" y="2688336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F4023"/>
                </a:solidFill>
                <a:latin typeface="Consolas"/>
              </a:rPr>
              <a:t>  validationActions: [Deny]</a:t>
            </a:r>
          </a:p>
        </p:txBody>
      </p:sp>
      <p:sp>
        <p:nvSpPr>
          <p:cNvPr id="34" name="Oval 33"/>
          <p:cNvSpPr/>
          <p:nvPr/>
        </p:nvSpPr>
        <p:spPr>
          <a:xfrm>
            <a:off x="11237976" y="2674620"/>
            <a:ext cx="274320" cy="274320"/>
          </a:xfrm>
          <a:prstGeom prst="ellipse">
            <a:avLst/>
          </a:prstGeom>
          <a:solidFill>
            <a:srgbClr val="EF4023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73368" y="2962656"/>
            <a:ext cx="45720" cy="192024"/>
          </a:xfrm>
          <a:prstGeom prst="roundRect">
            <a:avLst>
              <a:gd name="adj" fmla="val 50000"/>
            </a:avLst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37960" y="2935224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783C4"/>
                </a:solidFill>
                <a:latin typeface="Consolas"/>
              </a:rPr>
              <a:t>  matchConstraints:</a:t>
            </a:r>
          </a:p>
        </p:txBody>
      </p:sp>
      <p:sp>
        <p:nvSpPr>
          <p:cNvPr id="37" name="Oval 36"/>
          <p:cNvSpPr/>
          <p:nvPr/>
        </p:nvSpPr>
        <p:spPr>
          <a:xfrm>
            <a:off x="11237976" y="2921508"/>
            <a:ext cx="274320" cy="274320"/>
          </a:xfrm>
          <a:prstGeom prst="ellipse">
            <a:avLst/>
          </a:prstGeom>
          <a:solidFill>
            <a:srgbClr val="3783C4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3182112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resourceRules: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3429000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  - resources: [pods]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3675888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    operations: [CREATE, UPDATE]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73368" y="3950208"/>
            <a:ext cx="45720" cy="192024"/>
          </a:xfrm>
          <a:prstGeom prst="roundRect">
            <a:avLst>
              <a:gd name="adj" fmla="val 50000"/>
            </a:avLst>
          </a:prstGeom>
          <a:solidFill>
            <a:srgbClr val="E77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537960" y="3922776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77E5B"/>
                </a:solidFill>
                <a:latin typeface="Consolas"/>
              </a:rPr>
              <a:t>  validations:</a:t>
            </a:r>
          </a:p>
        </p:txBody>
      </p:sp>
      <p:sp>
        <p:nvSpPr>
          <p:cNvPr id="43" name="Oval 42"/>
          <p:cNvSpPr/>
          <p:nvPr/>
        </p:nvSpPr>
        <p:spPr>
          <a:xfrm>
            <a:off x="11237976" y="3909060"/>
            <a:ext cx="274320" cy="274320"/>
          </a:xfrm>
          <a:prstGeom prst="ellipse">
            <a:avLst/>
          </a:prstGeom>
          <a:solidFill>
            <a:srgbClr val="E77E5B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7960" y="4169664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- expression: &gt;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37960" y="4416552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    has(object.metadata.labels) &amp;&amp;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4663440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    'app' in object.metadata.labels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37960" y="4910328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537960" y="5157216"/>
            <a:ext cx="4617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83C4"/>
                </a:solidFill>
                <a:latin typeface="Montserrat"/>
              </a:rPr>
              <a:t>1</a:t>
            </a:r>
            <a:r>
              <a:rPr sz="1500" b="0">
                <a:solidFill>
                  <a:srgbClr val="1A1B1F"/>
                </a:solidFill>
                <a:latin typeface="Montserrat"/>
              </a:rPr>
              <a:t> what to match   ·   </a:t>
            </a:r>
            <a:r>
              <a:rPr sz="1500" b="1">
                <a:solidFill>
                  <a:srgbClr val="E77E5B"/>
                </a:solidFill>
                <a:latin typeface="Montserrat"/>
              </a:rPr>
              <a:t>2</a:t>
            </a:r>
            <a:r>
              <a:rPr sz="1500" b="0">
                <a:solidFill>
                  <a:srgbClr val="1A1B1F"/>
                </a:solidFill>
                <a:latin typeface="Montserrat"/>
              </a:rPr>
              <a:t> the rule   ·   </a:t>
            </a:r>
            <a:r>
              <a:rPr sz="1500" b="1">
                <a:solidFill>
                  <a:srgbClr val="EF4023"/>
                </a:solidFill>
                <a:latin typeface="Montserrat"/>
              </a:rPr>
              <a:t>3</a:t>
            </a:r>
            <a:r>
              <a:rPr sz="1500" b="0">
                <a:solidFill>
                  <a:srgbClr val="1A1B1F"/>
                </a:solidFill>
                <a:latin typeface="Montserrat"/>
              </a:rPr>
              <a:t> block or report   </a:t>
            </a:r>
            <a:r>
              <a:rPr sz="1500" b="0">
                <a:solidFill>
                  <a:srgbClr val="6B6F76"/>
                </a:solidFill>
                <a:latin typeface="Montserrat"/>
              </a:rPr>
              <a:t>— same three parts, new syntax.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938528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What we covered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11091672" cy="4206240"/>
          </a:xfrm>
          <a:prstGeom prst="roundRect">
            <a:avLst>
              <a:gd name="adj" fmla="val 5000"/>
            </a:avLst>
          </a:prstGeom>
          <a:solidFill>
            <a:srgbClr val="F6F6F8"/>
          </a:solidFill>
          <a:ln w="9525">
            <a:solidFill>
              <a:srgbClr val="E4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900" b="0">
                <a:solidFill>
                  <a:srgbClr val="1A1B1F"/>
                </a:solidFill>
                <a:latin typeface="Montserrat"/>
              </a:rPr>
              <a:t>Install Kyverno with Helm on Minikube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900" b="0">
                <a:solidFill>
                  <a:srgbClr val="1A1B1F"/>
                </a:solidFill>
                <a:latin typeface="Montserrat"/>
              </a:rPr>
              <a:t>Validate: require 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900" b="0">
                <a:solidFill>
                  <a:srgbClr val="1A1B1F"/>
                </a:solidFill>
                <a:latin typeface="Montserrat"/>
              </a:rPr>
              <a:t>Validate: block :latest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900" b="0">
                <a:solidFill>
                  <a:srgbClr val="1A1B1F"/>
                </a:solidFill>
                <a:latin typeface="Montserrat"/>
              </a:rPr>
              <a:t>Mutate: add default resources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61772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EF4023"/>
                </a:solidFill>
                <a:latin typeface="Montserrat"/>
              </a:rPr>
              <a:t>Enough to start useful guardrails.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itesp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959427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" y="570384"/>
            <a:ext cx="36576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Montserrat"/>
              </a:rPr>
              <a:t>          </a:t>
            </a:r>
            <a:r>
              <a:rPr sz="1500" b="1" i="0" dirty="0" err="1">
                <a:solidFill>
                  <a:srgbClr val="FFFFFF"/>
                </a:solidFill>
                <a:latin typeface="Montserrat"/>
              </a:rPr>
              <a:t>MillenniumIT</a:t>
            </a:r>
            <a:r>
              <a:rPr sz="1500" b="1" i="0" dirty="0">
                <a:solidFill>
                  <a:srgbClr val="FFFFFF"/>
                </a:solidFill>
                <a:latin typeface="Montserrat"/>
              </a:rPr>
              <a:t> ESP</a:t>
            </a:r>
          </a:p>
        </p:txBody>
      </p:sp>
      <p:pic>
        <p:nvPicPr>
          <p:cNvPr id="6" name="Picture 5" descr="kyvern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57200"/>
            <a:ext cx="48768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46920" y="45720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 i="0">
                <a:solidFill>
                  <a:srgbClr val="8FC4EE"/>
                </a:solidFill>
                <a:latin typeface="Montserrat"/>
              </a:rPr>
              <a:t>Kyverno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1609344" cy="329184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200" b="1" spc="120">
                <a:solidFill>
                  <a:srgbClr val="FFFFFF"/>
                </a:solidFill>
                <a:latin typeface="Montserrat"/>
              </a:rPr>
              <a:t>WRAP 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91440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Montserrat"/>
              </a:rPr>
              <a:t>Questions?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7639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B9BDC2"/>
                </a:solidFill>
                <a:latin typeface="Montserrat"/>
              </a:rPr>
              <a:t>Slides and policies from today are in the demo repo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7200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F4023"/>
                </a:solidFill>
                <a:latin typeface="Montserrat"/>
              </a:rPr>
              <a:t>RESOURCES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9377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ontserrat"/>
              </a:rPr>
              <a:t>Demo repo   </a:t>
            </a:r>
            <a:r>
              <a:rPr sz="1500" b="1">
                <a:solidFill>
                  <a:srgbClr val="EF4023"/>
                </a:solidFill>
                <a:latin typeface="Montserrat"/>
              </a:rPr>
              <a:t>https://github.com/lahirukmit/kyverno-demo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035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ontserrat"/>
              </a:rPr>
              <a:t>Minikube docs   </a:t>
            </a:r>
            <a:r>
              <a:rPr sz="1500" b="0">
                <a:solidFill>
                  <a:srgbClr val="B9BDC2"/>
                </a:solidFill>
                <a:latin typeface="Montserrat"/>
              </a:rPr>
              <a:t>https://minikube.sigs.k8s.io/docs/start/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ontserrat"/>
              </a:rPr>
              <a:t>Kyverno docs   </a:t>
            </a:r>
            <a:r>
              <a:rPr sz="1500" b="0">
                <a:solidFill>
                  <a:srgbClr val="B9BDC2"/>
                </a:solidFill>
                <a:latin typeface="Montserrat"/>
              </a:rPr>
              <a:t>https://kyverno.io/docs/introduction/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9BDC2"/>
                </a:solidFill>
                <a:latin typeface="Montserrat"/>
              </a:rPr>
              <a:t>github.com/lahirukmit/kyverno-demo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B9BDC2"/>
                </a:solidFill>
                <a:latin typeface="Montserrat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25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18</cp:revision>
  <dcterms:created xsi:type="dcterms:W3CDTF">2013-01-27T09:14:16Z</dcterms:created>
  <dcterms:modified xsi:type="dcterms:W3CDTF">2026-10-29T15:53:41Z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56ac557-f879-4314-a0dd-31320f1fd83e_Enabled">
    <vt:lpwstr>true</vt:lpwstr>
  </property>
  <property fmtid="{D5CDD505-2E9C-101B-9397-08002B2CF9AE}" pid="3" name="MSIP_Label_956ac557-f879-4314-a0dd-31320f1fd83e_SetDate">
    <vt:lpwstr>2026-10-29T15:46:14Z</vt:lpwstr>
  </property>
  <property fmtid="{D5CDD505-2E9C-101B-9397-08002B2CF9AE}" pid="4" name="MSIP_Label_956ac557-f879-4314-a0dd-31320f1fd83e_Method">
    <vt:lpwstr>Standard</vt:lpwstr>
  </property>
  <property fmtid="{D5CDD505-2E9C-101B-9397-08002B2CF9AE}" pid="5" name="MSIP_Label_956ac557-f879-4314-a0dd-31320f1fd83e_Name">
    <vt:lpwstr>956ac557-f879-4314-a0dd-31320f1fd83e</vt:lpwstr>
  </property>
  <property fmtid="{D5CDD505-2E9C-101B-9397-08002B2CF9AE}" pid="6" name="MSIP_Label_956ac557-f879-4314-a0dd-31320f1fd83e_SiteId">
    <vt:lpwstr>97424943-93ed-421f-81ce-f245fd53a717</vt:lpwstr>
  </property>
  <property fmtid="{D5CDD505-2E9C-101B-9397-08002B2CF9AE}" pid="7" name="MSIP_Label_956ac557-f879-4314-a0dd-31320f1fd83e_ActionId">
    <vt:lpwstr>ca02da04-718f-4482-b7d5-f82785ab12b3</vt:lpwstr>
  </property>
  <property fmtid="{D5CDD505-2E9C-101B-9397-08002B2CF9AE}" pid="8" name="MSIP_Label_956ac557-f879-4314-a0dd-31320f1fd83e_ContentBits">
    <vt:lpwstr>0</vt:lpwstr>
  </property>
  <property fmtid="{D5CDD505-2E9C-101B-9397-08002B2CF9AE}" pid="9" name="MSIP_Label_956ac557-f879-4314-a0dd-31320f1fd83e_Tag">
    <vt:lpwstr>10, 3, 0, 2</vt:lpwstr>
  </property>
</Properties>
</file>